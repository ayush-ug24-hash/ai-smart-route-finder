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showPr loop="1" showNarration="0" showAnimation="1" useTimings="1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51560"/>
            <a:ext cx="6400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200" b="1">
                <a:solidFill>
                  <a:srgbClr val="EBF2FA"/>
                </a:solidFill>
                <a:latin typeface="Aptos"/>
              </a:defRPr>
            </a:pPr>
            <a:r>
              <a:t>AI SMART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3736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200" b="1">
                <a:solidFill>
                  <a:srgbClr val="41B4FF"/>
                </a:solidFill>
                <a:latin typeface="Aptos"/>
              </a:defRPr>
            </a:pPr>
            <a:r>
              <a:t>ROUTE 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974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A5B4C6"/>
                </a:solidFill>
                <a:latin typeface="Aptos"/>
              </a:defRPr>
            </a:pPr>
            <a:r>
              <a:t>Intelligent pathfinding visualized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0">
                <a:solidFill>
                  <a:srgbClr val="EBF2FA"/>
                </a:solidFill>
                <a:latin typeface="Aptos"/>
              </a:defRPr>
            </a:pPr>
            <a:r>
              <a:t>Artificial Intelligence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0">
                <a:solidFill>
                  <a:srgbClr val="EBF2FA"/>
                </a:solidFill>
                <a:latin typeface="Aptos"/>
              </a:defRPr>
            </a:pPr>
            <a:r>
              <a:t>Ayush  •  2024UIN3367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1234440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47888" y="1234440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14816" y="1234440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81744" y="1234440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48672" y="1234440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0" y="1234440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0" y="1801368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47888" y="1801368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814816" y="1801368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81744" y="1801368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48672" y="1801368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515600" y="1801368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0" y="2368296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47888" y="2368296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14816" y="2368296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2368296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948672" y="2368296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515600" y="2368296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80960" y="2935224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47888" y="2935224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14816" y="2935224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81744" y="2935224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48672" y="2935224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515600" y="2935224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680960" y="3502152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47888" y="3502152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814816" y="3502152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381744" y="3502152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948672" y="3502152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515600" y="3502152"/>
            <a:ext cx="438912" cy="438912"/>
          </a:xfrm>
          <a:prstGeom prst="roundRect">
            <a:avLst/>
          </a:prstGeom>
          <a:solidFill>
            <a:srgbClr val="162030"/>
          </a:solidFill>
          <a:ln>
            <a:solidFill>
              <a:srgbClr val="2D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680960" y="1234440"/>
            <a:ext cx="438912" cy="438912"/>
          </a:xfrm>
          <a:prstGeom prst="roundRect">
            <a:avLst/>
          </a:prstGeom>
          <a:solidFill>
            <a:srgbClr val="41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247888" y="1234440"/>
            <a:ext cx="438912" cy="438912"/>
          </a:xfrm>
          <a:prstGeom prst="round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814816" y="1234440"/>
            <a:ext cx="438912" cy="438912"/>
          </a:xfrm>
          <a:prstGeom prst="round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814816" y="1801368"/>
            <a:ext cx="438912" cy="438912"/>
          </a:xfrm>
          <a:prstGeom prst="round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814816" y="2368296"/>
            <a:ext cx="438912" cy="438912"/>
          </a:xfrm>
          <a:prstGeom prst="round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1744" y="2368296"/>
            <a:ext cx="438912" cy="438912"/>
          </a:xfrm>
          <a:prstGeom prst="round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948672" y="2368296"/>
            <a:ext cx="438912" cy="438912"/>
          </a:xfrm>
          <a:prstGeom prst="round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515600" y="2368296"/>
            <a:ext cx="438912" cy="438912"/>
          </a:xfrm>
          <a:prstGeom prst="round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515600" y="2935224"/>
            <a:ext cx="438912" cy="438912"/>
          </a:xfrm>
          <a:prstGeom prst="round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515600" y="3502152"/>
            <a:ext cx="438912" cy="438912"/>
          </a:xfrm>
          <a:prstGeom prst="roundRect">
            <a:avLst/>
          </a:prstGeom>
          <a:solidFill>
            <a:srgbClr val="FFA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291A5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  <p:transition advClick="0" advTm="7000">
    <p:fade/>
  </p:transition>
  <p:timing>
    <p:tnLst>
      <p:par>
        <p:cTn id="10001" dur="indefinite" nodeType="tmRoot">
          <p:childTnLst>
            <p:par>
              <p:cTn id="20001" fill="hold" dur="450" presetID="1" presetClass="entr" presetSubtype="0" nodeType="withEffect">
                <p:stCondLst>
                  <p:cond delay="0"/>
                </p:stCondLst>
                <p:tgtEl>
                  <p:spTgt spid="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2" dur="indefinite" nodeType="tmRoot">
          <p:childTnLst>
            <p:par>
              <p:cTn id="20002" fill="hold" dur="450" presetID="1" presetClass="entr" presetSubtype="0" nodeType="withEffect">
                <p:stCondLst>
                  <p:cond delay="220"/>
                </p:stCondLst>
                <p:tgtEl>
                  <p:spTgt spid="3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3" dur="indefinite" nodeType="tmRoot">
          <p:childTnLst>
            <p:par>
              <p:cTn id="20003" fill="hold" dur="450" presetID="1" presetClass="entr" presetSubtype="0" nodeType="withEffect">
                <p:stCondLst>
                  <p:cond delay="440"/>
                </p:stCondLst>
                <p:tgtEl>
                  <p:spTgt spid="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4" dur="indefinite" nodeType="tmRoot">
          <p:childTnLst>
            <p:par>
              <p:cTn id="20004" fill="hold" dur="450" presetID="1" presetClass="entr" presetSubtype="0" nodeType="withEffect">
                <p:stCondLst>
                  <p:cond delay="660"/>
                </p:stCondLst>
                <p:tgtEl>
                  <p:spTgt spid="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5" dur="indefinite" nodeType="tmRoot">
          <p:childTnLst>
            <p:par>
              <p:cTn id="20005" fill="hold" dur="450" presetID="1" presetClass="entr" presetSubtype="0" nodeType="withEffect">
                <p:stCondLst>
                  <p:cond delay="880"/>
                </p:stCondLst>
                <p:tgtEl>
                  <p:spTgt spid="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6" dur="indefinite" nodeType="tmRoot">
          <p:childTnLst>
            <p:par>
              <p:cTn id="20006" fill="hold" dur="450" presetID="1" presetClass="entr" presetSubtype="0" nodeType="withEffect">
                <p:stCondLst>
                  <p:cond delay="1100"/>
                </p:stCondLst>
                <p:tgtEl>
                  <p:spTgt spid="4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EBF2FA"/>
                </a:solidFill>
                <a:latin typeface="Aptos"/>
              </a:defRPr>
            </a:pPr>
            <a:r>
              <a:t>01  |  Project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554480" cy="41148"/>
          </a:xfrm>
          <a:prstGeom prst="rect">
            <a:avLst/>
          </a:prstGeom>
          <a:solidFill>
            <a:srgbClr val="41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383280" cy="1828800"/>
          </a:xfrm>
          <a:prstGeom prst="roundRect">
            <a:avLst/>
          </a:prstGeom>
          <a:solidFill>
            <a:srgbClr val="162030"/>
          </a:solidFill>
          <a:ln>
            <a:solidFill>
              <a:srgbClr val="41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B4FF"/>
                </a:solidFill>
                <a:latin typeface="Aptos"/>
              </a:defRPr>
            </a:pPr>
            <a:r>
              <a:t>STATE 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301752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Grid cells become states.</a:t>
            </a:r>
            <a:br/>
            <a:r>
              <a:t>Moves become actions.</a:t>
            </a:r>
            <a:br/>
            <a:r>
              <a:t>Goal = destination.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383280" cy="1828800"/>
          </a:xfrm>
          <a:prstGeom prst="roundRect">
            <a:avLst/>
          </a:prstGeom>
          <a:solidFill>
            <a:srgbClr val="162030"/>
          </a:solidFill>
          <a:ln>
            <a:solidFill>
              <a:srgbClr val="41D2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55448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D291"/>
                </a:solidFill>
                <a:latin typeface="Aptos"/>
              </a:defRPr>
            </a:pPr>
            <a:r>
              <a:t>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965960"/>
            <a:ext cx="301752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Five classical AI strategies</a:t>
            </a:r>
            <a:br/>
            <a:r>
              <a:t>explore the same environment</a:t>
            </a:r>
            <a:br/>
            <a:r>
              <a:t>in different ways.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17320"/>
            <a:ext cx="3383280" cy="1828800"/>
          </a:xfrm>
          <a:prstGeom prst="roundRect">
            <a:avLst/>
          </a:prstGeom>
          <a:solidFill>
            <a:srgbClr val="162030"/>
          </a:solidFill>
          <a:ln>
            <a:solidFill>
              <a:srgbClr val="FFA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5448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FFAA46"/>
                </a:solidFill>
                <a:latin typeface="Aptos"/>
              </a:defRPr>
            </a:pPr>
            <a:r>
              <a:t>VISUALIZATION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965960"/>
            <a:ext cx="301752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Explored cells + final path</a:t>
            </a:r>
            <a:br/>
            <a:r>
              <a:t>make algorithm behavior</a:t>
            </a:r>
            <a:br/>
            <a:r>
              <a:t>easy to understand.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41B4FF"/>
                </a:solidFill>
                <a:latin typeface="Aptos"/>
              </a:defRPr>
            </a:pPr>
            <a:r>
              <a:t>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0690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500" b="1">
                <a:solidFill>
                  <a:srgbClr val="EBF2F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1148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41D291"/>
                </a:solidFill>
                <a:latin typeface="Aptos"/>
              </a:defRPr>
            </a:pPr>
            <a:r>
              <a:t>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0690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500" b="1">
                <a:solidFill>
                  <a:srgbClr val="EBF2F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41148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FFAA46"/>
                </a:solidFill>
                <a:latin typeface="Aptos"/>
              </a:defRPr>
            </a:pPr>
            <a:r>
              <a:t>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291A5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  <p:transition advClick="0" advTm="7000">
    <p:fade/>
  </p:transition>
  <p:timing>
    <p:tnLst>
      <p:par>
        <p:cTn id="10001" dur="indefinite" nodeType="tmRoot">
          <p:childTnLst>
            <p:par>
              <p:cTn id="20001" fill="hold" dur="450" presetID="1" presetClass="entr" presetSubtype="0" nodeType="withEffect">
                <p:stCondLst>
                  <p:cond delay="0"/>
                </p:stCondLst>
                <p:tgtEl>
                  <p:spTgt spid="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2" dur="indefinite" nodeType="tmRoot">
          <p:childTnLst>
            <p:par>
              <p:cTn id="20002" fill="hold" dur="450" presetID="1" presetClass="entr" presetSubtype="0" nodeType="withEffect">
                <p:stCondLst>
                  <p:cond delay="220"/>
                </p:stCondLst>
                <p:tgtEl>
                  <p:spTgt spid="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3" dur="indefinite" nodeType="tmRoot">
          <p:childTnLst>
            <p:par>
              <p:cTn id="20003" fill="hold" dur="450" presetID="1" presetClass="entr" presetSubtype="0" nodeType="withEffect">
                <p:stCondLst>
                  <p:cond delay="440"/>
                </p:stCondLst>
                <p:tgtEl>
                  <p:spTgt spid="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4" dur="indefinite" nodeType="tmRoot">
          <p:childTnLst>
            <p:par>
              <p:cTn id="20004" fill="hold" dur="450" presetID="1" presetClass="entr" presetSubtype="0" nodeType="withEffect">
                <p:stCondLst>
                  <p:cond delay="660"/>
                </p:stCondLst>
                <p:tgtEl>
                  <p:spTgt spid="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5" dur="indefinite" nodeType="tmRoot">
          <p:childTnLst>
            <p:par>
              <p:cTn id="20005" fill="hold" dur="450" presetID="1" presetClass="entr" presetSubtype="0" nodeType="withEffect">
                <p:stCondLst>
                  <p:cond delay="880"/>
                </p:stCondLst>
                <p:tgtEl>
                  <p:spTgt spid="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6" dur="indefinite" nodeType="tmRoot">
          <p:childTnLst>
            <p:par>
              <p:cTn id="20006" fill="hold" dur="450" presetID="1" presetClass="entr" presetSubtype="0" nodeType="withEffect">
                <p:stCondLst>
                  <p:cond delay="1100"/>
                </p:stCondLst>
                <p:tgtEl>
                  <p:spTgt spid="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7" dur="indefinite" nodeType="tmRoot">
          <p:childTnLst>
            <p:par>
              <p:cTn id="20007" fill="hold" dur="450" presetID="1" presetClass="entr" presetSubtype="0" nodeType="withEffect">
                <p:stCondLst>
                  <p:cond delay="1320"/>
                </p:stCondLst>
                <p:tgtEl>
                  <p:spTgt spid="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8" dur="indefinite" nodeType="tmRoot">
          <p:childTnLst>
            <p:par>
              <p:cTn id="20008" fill="hold" dur="450" presetID="1" presetClass="entr" presetSubtype="0" nodeType="withEffect">
                <p:stCondLst>
                  <p:cond delay="1540"/>
                </p:stCondLst>
                <p:tgtEl>
                  <p:spTgt spid="1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9" dur="indefinite" nodeType="tmRoot">
          <p:childTnLst>
            <p:par>
              <p:cTn id="20009" fill="hold" dur="450" presetID="1" presetClass="entr" presetSubtype="0" nodeType="withEffect">
                <p:stCondLst>
                  <p:cond delay="1760"/>
                </p:stCondLst>
                <p:tgtEl>
                  <p:spTgt spid="11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0" dur="indefinite" nodeType="tmRoot">
          <p:childTnLst>
            <p:par>
              <p:cTn id="20010" fill="hold" dur="450" presetID="1" presetClass="entr" presetSubtype="0" nodeType="withEffect">
                <p:stCondLst>
                  <p:cond delay="1800"/>
                </p:stCondLst>
                <p:tgtEl>
                  <p:spTgt spid="1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1" dur="indefinite" nodeType="tmRoot">
          <p:childTnLst>
            <p:par>
              <p:cTn id="20011" fill="hold" dur="450" presetID="1" presetClass="entr" presetSubtype="0" nodeType="withEffect">
                <p:stCondLst>
                  <p:cond delay="1800"/>
                </p:stCondLst>
                <p:tgtEl>
                  <p:spTgt spid="13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2" dur="indefinite" nodeType="tmRoot">
          <p:childTnLst>
            <p:par>
              <p:cTn id="20012" fill="hold" dur="450" presetID="1" presetClass="entr" presetSubtype="0" nodeType="withEffect">
                <p:stCondLst>
                  <p:cond delay="1800"/>
                </p:stCondLst>
                <p:tgtEl>
                  <p:spTgt spid="1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3" dur="indefinite" nodeType="tmRoot">
          <p:childTnLst>
            <p:par>
              <p:cTn id="20013" fill="hold" dur="450" presetID="1" presetClass="entr" presetSubtype="0" nodeType="withEffect">
                <p:stCondLst>
                  <p:cond delay="1800"/>
                </p:stCondLst>
                <p:tgtEl>
                  <p:spTgt spid="1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4" dur="indefinite" nodeType="tmRoot">
          <p:childTnLst>
            <p:par>
              <p:cTn id="20014" fill="hold" dur="450" presetID="1" presetClass="entr" presetSubtype="0" nodeType="withEffect">
                <p:stCondLst>
                  <p:cond delay="1800"/>
                </p:stCondLst>
                <p:tgtEl>
                  <p:spTgt spid="1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5" dur="indefinite" nodeType="tmRoot">
          <p:childTnLst>
            <p:par>
              <p:cTn id="20015" fill="hold" dur="450" presetID="1" presetClass="entr" presetSubtype="0" nodeType="withEffect">
                <p:stCondLst>
                  <p:cond delay="1800"/>
                </p:stCondLst>
                <p:tgtEl>
                  <p:spTgt spid="1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6" dur="indefinite" nodeType="tmRoot">
          <p:childTnLst>
            <p:par>
              <p:cTn id="20016" fill="hold" dur="450" presetID="1" presetClass="entr" presetSubtype="0" nodeType="withEffect">
                <p:stCondLst>
                  <p:cond delay="1800"/>
                </p:stCondLst>
                <p:tgtEl>
                  <p:spTgt spid="1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EBF2FA"/>
                </a:solidFill>
                <a:latin typeface="Aptos"/>
              </a:defRPr>
            </a:pPr>
            <a:r>
              <a:t>02  |  Problem &amp; 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554480" cy="41148"/>
          </a:xfrm>
          <a:prstGeom prst="rect">
            <a:avLst/>
          </a:prstGeom>
          <a:solidFill>
            <a:srgbClr val="41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206240"/>
          </a:xfrm>
          <a:prstGeom prst="roundRect">
            <a:avLst/>
          </a:prstGeom>
          <a:solidFill>
            <a:srgbClr val="162030"/>
          </a:solidFill>
          <a:ln>
            <a:solidFill>
              <a:srgbClr val="41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B4FF"/>
                </a:solidFill>
                <a:latin typeface="Aptos"/>
              </a:defRPr>
            </a:pPr>
            <a: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663440" cy="3520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How can an AI agent find a route through a grid when obstacles block direct movement?</a:t>
            </a:r>
            <a:br/>
            <a:br/>
            <a:r>
              <a:t>Different search strategies make different decisions about which state to explore next.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71600"/>
            <a:ext cx="5029200" cy="4206240"/>
          </a:xfrm>
          <a:prstGeom prst="roundRect">
            <a:avLst/>
          </a:prstGeom>
          <a:solidFill>
            <a:srgbClr val="162030"/>
          </a:solidFill>
          <a:ln>
            <a:solidFill>
              <a:srgbClr val="41D2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508760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D291"/>
                </a:solidFill>
                <a:latin typeface="Aptos"/>
              </a:defRPr>
            </a:pPr>
            <a:r>
              <a:t>THE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920240"/>
            <a:ext cx="4663440" cy="3520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• Model navigation as state-space search</a:t>
            </a:r>
            <a:br/>
            <a:r>
              <a:t>• Implement BFS, DFS, Greedy, A* and Hill Climbing</a:t>
            </a:r>
            <a:br/>
            <a:r>
              <a:t>• Visualize exploration</a:t>
            </a:r>
            <a:br/>
            <a:r>
              <a:t>• Compare path length, nodes explored and execution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291A5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  <p:transition advClick="0" advTm="7000">
    <p:fade/>
  </p:transition>
  <p:timing>
    <p:tnLst>
      <p:par>
        <p:cTn id="10001" dur="indefinite" nodeType="tmRoot">
          <p:childTnLst>
            <p:par>
              <p:cTn id="20001" fill="hold" dur="450" presetID="1" presetClass="entr" presetSubtype="0" nodeType="withEffect">
                <p:stCondLst>
                  <p:cond delay="0"/>
                </p:stCondLst>
                <p:tgtEl>
                  <p:spTgt spid="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2" dur="indefinite" nodeType="tmRoot">
          <p:childTnLst>
            <p:par>
              <p:cTn id="20002" fill="hold" dur="450" presetID="1" presetClass="entr" presetSubtype="0" nodeType="withEffect">
                <p:stCondLst>
                  <p:cond delay="220"/>
                </p:stCondLst>
                <p:tgtEl>
                  <p:spTgt spid="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3" dur="indefinite" nodeType="tmRoot">
          <p:childTnLst>
            <p:par>
              <p:cTn id="20003" fill="hold" dur="450" presetID="1" presetClass="entr" presetSubtype="0" nodeType="withEffect">
                <p:stCondLst>
                  <p:cond delay="440"/>
                </p:stCondLst>
                <p:tgtEl>
                  <p:spTgt spid="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4" dur="indefinite" nodeType="tmRoot">
          <p:childTnLst>
            <p:par>
              <p:cTn id="20004" fill="hold" dur="450" presetID="1" presetClass="entr" presetSubtype="0" nodeType="withEffect">
                <p:stCondLst>
                  <p:cond delay="660"/>
                </p:stCondLst>
                <p:tgtEl>
                  <p:spTgt spid="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5" dur="indefinite" nodeType="tmRoot">
          <p:childTnLst>
            <p:par>
              <p:cTn id="20005" fill="hold" dur="450" presetID="1" presetClass="entr" presetSubtype="0" nodeType="withEffect">
                <p:stCondLst>
                  <p:cond delay="880"/>
                </p:stCondLst>
                <p:tgtEl>
                  <p:spTgt spid="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6" dur="indefinite" nodeType="tmRoot">
          <p:childTnLst>
            <p:par>
              <p:cTn id="20006" fill="hold" dur="450" presetID="1" presetClass="entr" presetSubtype="0" nodeType="withEffect">
                <p:stCondLst>
                  <p:cond delay="1100"/>
                </p:stCondLst>
                <p:tgtEl>
                  <p:spTgt spid="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7" dur="indefinite" nodeType="tmRoot">
          <p:childTnLst>
            <p:par>
              <p:cTn id="20007" fill="hold" dur="450" presetID="1" presetClass="entr" presetSubtype="0" nodeType="withEffect">
                <p:stCondLst>
                  <p:cond delay="1320"/>
                </p:stCondLst>
                <p:tgtEl>
                  <p:spTgt spid="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8" dur="indefinite" nodeType="tmRoot">
          <p:childTnLst>
            <p:par>
              <p:cTn id="20008" fill="hold" dur="450" presetID="1" presetClass="entr" presetSubtype="0" nodeType="withEffect">
                <p:stCondLst>
                  <p:cond delay="1540"/>
                </p:stCondLst>
                <p:tgtEl>
                  <p:spTgt spid="1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EBF2FA"/>
                </a:solidFill>
                <a:latin typeface="Aptos"/>
              </a:defRPr>
            </a:pPr>
            <a:r>
              <a:t>03  |  Five AI Search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554480" cy="41148"/>
          </a:xfrm>
          <a:prstGeom prst="rect">
            <a:avLst/>
          </a:prstGeom>
          <a:solidFill>
            <a:srgbClr val="41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874519" cy="2286000"/>
          </a:xfrm>
          <a:prstGeom prst="roundRect">
            <a:avLst/>
          </a:prstGeom>
          <a:solidFill>
            <a:srgbClr val="162030"/>
          </a:solidFill>
          <a:ln>
            <a:solidFill>
              <a:srgbClr val="41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41B4FF"/>
                </a:solidFill>
                <a:latin typeface="Aptos"/>
              </a:defRPr>
            </a:pPr>
            <a:r>
              <a:t>BFS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600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EBF2FA"/>
                </a:solidFill>
                <a:latin typeface="Aptos"/>
              </a:defRPr>
            </a:pPr>
            <a:r>
              <a:t>Level-by-level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03320"/>
            <a:ext cx="1600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5B4C6"/>
                </a:solidFill>
                <a:latin typeface="Aptos"/>
              </a:defRPr>
            </a:pPr>
            <a:r>
              <a:t>Queue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828800"/>
            <a:ext cx="1874519" cy="2286000"/>
          </a:xfrm>
          <a:prstGeom prst="roundRect">
            <a:avLst/>
          </a:prstGeom>
          <a:solidFill>
            <a:srgbClr val="162030"/>
          </a:solidFill>
          <a:ln>
            <a:solidFill>
              <a:srgbClr val="41D2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2148840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41D291"/>
                </a:solidFill>
                <a:latin typeface="Aptos"/>
              </a:defRPr>
            </a:pPr>
            <a:r>
              <a:t>DFS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880360"/>
            <a:ext cx="1600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EBF2FA"/>
                </a:solidFill>
                <a:latin typeface="Aptos"/>
              </a:defRPr>
            </a:pPr>
            <a:r>
              <a:t>Go deep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703320"/>
            <a:ext cx="1600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5B4C6"/>
                </a:solidFill>
                <a:latin typeface="Aptos"/>
              </a:defRPr>
            </a:pPr>
            <a:r>
              <a:t>Stack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828800"/>
            <a:ext cx="1874519" cy="2286000"/>
          </a:xfrm>
          <a:prstGeom prst="roundRect">
            <a:avLst/>
          </a:prstGeom>
          <a:solidFill>
            <a:srgbClr val="162030"/>
          </a:solidFill>
          <a:ln>
            <a:solidFill>
              <a:srgbClr val="FFA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9240" y="2148840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AA46"/>
                </a:solidFill>
                <a:latin typeface="Aptos"/>
              </a:defRPr>
            </a:pPr>
            <a:r>
              <a:t>Greedy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880360"/>
            <a:ext cx="1600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EBF2FA"/>
                </a:solidFill>
                <a:latin typeface="Aptos"/>
              </a:defRPr>
            </a:pPr>
            <a:r>
              <a:t>Chase the goal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3703320"/>
            <a:ext cx="1600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5B4C6"/>
                </a:solidFill>
                <a:latin typeface="Aptos"/>
              </a:defRPr>
            </a:pPr>
            <a:r>
              <a:t>Priority Queue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1828800"/>
            <a:ext cx="1874519" cy="2286000"/>
          </a:xfrm>
          <a:prstGeom prst="roundRect">
            <a:avLst/>
          </a:prstGeom>
          <a:solidFill>
            <a:srgbClr val="162030"/>
          </a:solidFill>
          <a:ln>
            <a:solidFill>
              <a:srgbClr val="41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48840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41B4FF"/>
                </a:solidFill>
                <a:latin typeface="Aptos"/>
              </a:defRPr>
            </a:pPr>
            <a:r>
              <a:t>A*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880360"/>
            <a:ext cx="1600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EBF2FA"/>
                </a:solidFill>
                <a:latin typeface="Aptos"/>
              </a:defRPr>
            </a:pPr>
            <a:r>
              <a:t>Cost + heuristic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703320"/>
            <a:ext cx="1600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5B4C6"/>
                </a:solidFill>
                <a:latin typeface="Aptos"/>
              </a:defRPr>
            </a:pPr>
            <a:r>
              <a:t>Priority Queue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1828800"/>
            <a:ext cx="1874519" cy="2286000"/>
          </a:xfrm>
          <a:prstGeom prst="roundRect">
            <a:avLst/>
          </a:prstGeom>
          <a:solidFill>
            <a:srgbClr val="162030"/>
          </a:solidFill>
          <a:ln>
            <a:solidFill>
              <a:srgbClr val="F0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9800" y="2148840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05A64"/>
                </a:solidFill>
                <a:latin typeface="Aptos"/>
              </a:defRPr>
            </a:pPr>
            <a:r>
              <a:t>Hill Climbing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2880360"/>
            <a:ext cx="1600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EBF2FA"/>
                </a:solidFill>
                <a:latin typeface="Aptos"/>
              </a:defRPr>
            </a:pPr>
            <a:r>
              <a:t>Local improvement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703320"/>
            <a:ext cx="1600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5B4C6"/>
                </a:solidFill>
                <a:latin typeface="Aptos"/>
              </a:defRPr>
            </a:pPr>
            <a:r>
              <a:t>Local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291A5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  <p:transition advClick="0" advTm="7000">
    <p:fade/>
  </p:transition>
  <p:timing>
    <p:tnLst>
      <p:par>
        <p:cTn id="10001" dur="indefinite" nodeType="tmRoot">
          <p:childTnLst>
            <p:par>
              <p:cTn id="20001" fill="hold" dur="450" presetID="1" presetClass="entr" presetSubtype="0" nodeType="withEffect">
                <p:stCondLst>
                  <p:cond delay="0"/>
                </p:stCondLst>
                <p:tgtEl>
                  <p:spTgt spid="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2" dur="indefinite" nodeType="tmRoot">
          <p:childTnLst>
            <p:par>
              <p:cTn id="20002" fill="hold" dur="450" presetID="1" presetClass="entr" presetSubtype="0" nodeType="withEffect">
                <p:stCondLst>
                  <p:cond delay="220"/>
                </p:stCondLst>
                <p:tgtEl>
                  <p:spTgt spid="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3" dur="indefinite" nodeType="tmRoot">
          <p:childTnLst>
            <p:par>
              <p:cTn id="20003" fill="hold" dur="450" presetID="1" presetClass="entr" presetSubtype="0" nodeType="withEffect">
                <p:stCondLst>
                  <p:cond delay="440"/>
                </p:stCondLst>
                <p:tgtEl>
                  <p:spTgt spid="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4" dur="indefinite" nodeType="tmRoot">
          <p:childTnLst>
            <p:par>
              <p:cTn id="20004" fill="hold" dur="450" presetID="1" presetClass="entr" presetSubtype="0" nodeType="withEffect">
                <p:stCondLst>
                  <p:cond delay="660"/>
                </p:stCondLst>
                <p:tgtEl>
                  <p:spTgt spid="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5" dur="indefinite" nodeType="tmRoot">
          <p:childTnLst>
            <p:par>
              <p:cTn id="20005" fill="hold" dur="450" presetID="1" presetClass="entr" presetSubtype="0" nodeType="withEffect">
                <p:stCondLst>
                  <p:cond delay="880"/>
                </p:stCondLst>
                <p:tgtEl>
                  <p:spTgt spid="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6" dur="indefinite" nodeType="tmRoot">
          <p:childTnLst>
            <p:par>
              <p:cTn id="20006" fill="hold" dur="450" presetID="1" presetClass="entr" presetSubtype="0" nodeType="withEffect">
                <p:stCondLst>
                  <p:cond delay="1100"/>
                </p:stCondLst>
                <p:tgtEl>
                  <p:spTgt spid="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7" dur="indefinite" nodeType="tmRoot">
          <p:childTnLst>
            <p:par>
              <p:cTn id="20007" fill="hold" dur="450" presetID="1" presetClass="entr" presetSubtype="0" nodeType="withEffect">
                <p:stCondLst>
                  <p:cond delay="1320"/>
                </p:stCondLst>
                <p:tgtEl>
                  <p:spTgt spid="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8" dur="indefinite" nodeType="tmRoot">
          <p:childTnLst>
            <p:par>
              <p:cTn id="20008" fill="hold" dur="450" presetID="1" presetClass="entr" presetSubtype="0" nodeType="withEffect">
                <p:stCondLst>
                  <p:cond delay="1540"/>
                </p:stCondLst>
                <p:tgtEl>
                  <p:spTgt spid="1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9" dur="indefinite" nodeType="tmRoot">
          <p:childTnLst>
            <p:par>
              <p:cTn id="20009" fill="hold" dur="450" presetID="1" presetClass="entr" presetSubtype="0" nodeType="withEffect">
                <p:stCondLst>
                  <p:cond delay="1760"/>
                </p:stCondLst>
                <p:tgtEl>
                  <p:spTgt spid="11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0" dur="indefinite" nodeType="tmRoot">
          <p:childTnLst>
            <p:par>
              <p:cTn id="20010" fill="hold" dur="450" presetID="1" presetClass="entr" presetSubtype="0" nodeType="withEffect">
                <p:stCondLst>
                  <p:cond delay="1800"/>
                </p:stCondLst>
                <p:tgtEl>
                  <p:spTgt spid="1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1" dur="indefinite" nodeType="tmRoot">
          <p:childTnLst>
            <p:par>
              <p:cTn id="20011" fill="hold" dur="450" presetID="1" presetClass="entr" presetSubtype="0" nodeType="withEffect">
                <p:stCondLst>
                  <p:cond delay="1800"/>
                </p:stCondLst>
                <p:tgtEl>
                  <p:spTgt spid="13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2" dur="indefinite" nodeType="tmRoot">
          <p:childTnLst>
            <p:par>
              <p:cTn id="20012" fill="hold" dur="450" presetID="1" presetClass="entr" presetSubtype="0" nodeType="withEffect">
                <p:stCondLst>
                  <p:cond delay="1800"/>
                </p:stCondLst>
                <p:tgtEl>
                  <p:spTgt spid="1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3" dur="indefinite" nodeType="tmRoot">
          <p:childTnLst>
            <p:par>
              <p:cTn id="20013" fill="hold" dur="450" presetID="1" presetClass="entr" presetSubtype="0" nodeType="withEffect">
                <p:stCondLst>
                  <p:cond delay="1800"/>
                </p:stCondLst>
                <p:tgtEl>
                  <p:spTgt spid="1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4" dur="indefinite" nodeType="tmRoot">
          <p:childTnLst>
            <p:par>
              <p:cTn id="20014" fill="hold" dur="450" presetID="1" presetClass="entr" presetSubtype="0" nodeType="withEffect">
                <p:stCondLst>
                  <p:cond delay="1800"/>
                </p:stCondLst>
                <p:tgtEl>
                  <p:spTgt spid="1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5" dur="indefinite" nodeType="tmRoot">
          <p:childTnLst>
            <p:par>
              <p:cTn id="20015" fill="hold" dur="450" presetID="1" presetClass="entr" presetSubtype="0" nodeType="withEffect">
                <p:stCondLst>
                  <p:cond delay="1800"/>
                </p:stCondLst>
                <p:tgtEl>
                  <p:spTgt spid="1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6" dur="indefinite" nodeType="tmRoot">
          <p:childTnLst>
            <p:par>
              <p:cTn id="20016" fill="hold" dur="450" presetID="1" presetClass="entr" presetSubtype="0" nodeType="withEffect">
                <p:stCondLst>
                  <p:cond delay="1800"/>
                </p:stCondLst>
                <p:tgtEl>
                  <p:spTgt spid="1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7" dur="indefinite" nodeType="tmRoot">
          <p:childTnLst>
            <p:par>
              <p:cTn id="20017" fill="hold" dur="450" presetID="1" presetClass="entr" presetSubtype="0" nodeType="withEffect">
                <p:stCondLst>
                  <p:cond delay="1800"/>
                </p:stCondLst>
                <p:tgtEl>
                  <p:spTgt spid="1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8" dur="indefinite" nodeType="tmRoot">
          <p:childTnLst>
            <p:par>
              <p:cTn id="20018" fill="hold" dur="450" presetID="1" presetClass="entr" presetSubtype="0" nodeType="withEffect">
                <p:stCondLst>
                  <p:cond delay="1800"/>
                </p:stCondLst>
                <p:tgtEl>
                  <p:spTgt spid="2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9" dur="indefinite" nodeType="tmRoot">
          <p:childTnLst>
            <p:par>
              <p:cTn id="20019" fill="hold" dur="450" presetID="1" presetClass="entr" presetSubtype="0" nodeType="withEffect">
                <p:stCondLst>
                  <p:cond delay="1800"/>
                </p:stCondLst>
                <p:tgtEl>
                  <p:spTgt spid="21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20" dur="indefinite" nodeType="tmRoot">
          <p:childTnLst>
            <p:par>
              <p:cTn id="20020" fill="hold" dur="450" presetID="1" presetClass="entr" presetSubtype="0" nodeType="withEffect">
                <p:stCondLst>
                  <p:cond delay="1800"/>
                </p:stCondLst>
                <p:tgtEl>
                  <p:spTgt spid="2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21" dur="indefinite" nodeType="tmRoot">
          <p:childTnLst>
            <p:par>
              <p:cTn id="20021" fill="hold" dur="450" presetID="1" presetClass="entr" presetSubtype="0" nodeType="withEffect">
                <p:stCondLst>
                  <p:cond delay="1800"/>
                </p:stCondLst>
                <p:tgtEl>
                  <p:spTgt spid="23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22" dur="indefinite" nodeType="tmRoot">
          <p:childTnLst>
            <p:par>
              <p:cTn id="20022" fill="hold" dur="450" presetID="1" presetClass="entr" presetSubtype="0" nodeType="withEffect">
                <p:stCondLst>
                  <p:cond delay="1800"/>
                </p:stCondLst>
                <p:tgtEl>
                  <p:spTgt spid="2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EBF2FA"/>
                </a:solidFill>
                <a:latin typeface="Aptos"/>
              </a:defRPr>
            </a:pPr>
            <a:r>
              <a:t>04  |  A* Search — The Core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554480" cy="41148"/>
          </a:xfrm>
          <a:prstGeom prst="rect">
            <a:avLst/>
          </a:prstGeom>
          <a:solidFill>
            <a:srgbClr val="41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5029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41B4FF"/>
                </a:solidFill>
                <a:latin typeface="Aptos"/>
              </a:defRPr>
            </a:pPr>
            <a:r>
              <a:t>f(n) = g(n) + h(n)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325880"/>
            <a:ext cx="2377440" cy="1417320"/>
          </a:xfrm>
          <a:prstGeom prst="roundRect">
            <a:avLst/>
          </a:prstGeom>
          <a:solidFill>
            <a:srgbClr val="162030"/>
          </a:solidFill>
          <a:ln>
            <a:solidFill>
              <a:srgbClr val="41D2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0" y="1463039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D291"/>
                </a:solidFill>
                <a:latin typeface="Aptos"/>
              </a:defRPr>
            </a:pPr>
            <a:r>
              <a:t>g(n)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74519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Cost already travelled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1325880"/>
            <a:ext cx="2377440" cy="1417320"/>
          </a:xfrm>
          <a:prstGeom prst="roundRect">
            <a:avLst/>
          </a:prstGeom>
          <a:solidFill>
            <a:srgbClr val="162030"/>
          </a:solidFill>
          <a:ln>
            <a:solidFill>
              <a:srgbClr val="FFA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0" y="1463039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FFAA46"/>
                </a:solidFill>
                <a:latin typeface="Aptos"/>
              </a:defRPr>
            </a:pPr>
            <a:r>
              <a:t>h(n)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874519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Estimated cost to goal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78892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17320" y="278892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20240" y="278892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23160" y="278892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26080" y="278892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278892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31920" y="278892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3291839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17320" y="3291839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20240" y="3291839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23160" y="3291839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26080" y="3291839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29000" y="3291839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31920" y="3291839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379476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17320" y="379476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379476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423160" y="379476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26080" y="379476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29000" y="379476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31920" y="379476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429768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17320" y="429768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20240" y="429768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23160" y="429768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926080" y="429768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9000" y="429768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31920" y="4297680"/>
            <a:ext cx="393192" cy="393192"/>
          </a:xfrm>
          <a:prstGeom prst="rect">
            <a:avLst/>
          </a:prstGeom>
          <a:solidFill>
            <a:srgbClr val="162030"/>
          </a:solidFill>
          <a:ln>
            <a:solidFill>
              <a:srgbClr val="2D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2788920"/>
            <a:ext cx="393192" cy="393192"/>
          </a:xfrm>
          <a:prstGeom prst="rect">
            <a:avLst/>
          </a:prstGeom>
          <a:solidFill>
            <a:srgbClr val="41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417320" y="2788920"/>
            <a:ext cx="393192" cy="393192"/>
          </a:xfrm>
          <a:prstGeom prst="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920240" y="2788920"/>
            <a:ext cx="393192" cy="393192"/>
          </a:xfrm>
          <a:prstGeom prst="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20240" y="3291839"/>
            <a:ext cx="393192" cy="393192"/>
          </a:xfrm>
          <a:prstGeom prst="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423160" y="3291839"/>
            <a:ext cx="393192" cy="393192"/>
          </a:xfrm>
          <a:prstGeom prst="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926080" y="3291839"/>
            <a:ext cx="393192" cy="393192"/>
          </a:xfrm>
          <a:prstGeom prst="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29000" y="3291839"/>
            <a:ext cx="393192" cy="393192"/>
          </a:xfrm>
          <a:prstGeom prst="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931920" y="3291839"/>
            <a:ext cx="393192" cy="393192"/>
          </a:xfrm>
          <a:prstGeom prst="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931920" y="3794760"/>
            <a:ext cx="393192" cy="393192"/>
          </a:xfrm>
          <a:prstGeom prst="rect">
            <a:avLst/>
          </a:prstGeom>
          <a:solidFill>
            <a:srgbClr val="41D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31920" y="4297680"/>
            <a:ext cx="393192" cy="393192"/>
          </a:xfrm>
          <a:prstGeom prst="rect">
            <a:avLst/>
          </a:prstGeom>
          <a:solidFill>
            <a:srgbClr val="FFA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" y="50749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A5B4C6"/>
                </a:solidFill>
                <a:latin typeface="Aptos"/>
              </a:defRPr>
            </a:pPr>
            <a:r>
              <a:t>Start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0" y="502920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EBF2FA"/>
                </a:solidFill>
                <a:latin typeface="Aptos"/>
              </a:defRPr>
            </a:pPr>
            <a:r>
              <a:t>Optimal path guided by cost + heuristic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291A5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  <p:transition advClick="0" advTm="7000">
    <p:fade/>
  </p:transition>
  <p:timing>
    <p:tnLst>
      <p:par>
        <p:cTn id="10001" dur="indefinite" nodeType="tmRoot">
          <p:childTnLst>
            <p:par>
              <p:cTn id="20001" fill="hold" dur="450" presetID="1" presetClass="entr" presetSubtype="0" nodeType="withEffect">
                <p:stCondLst>
                  <p:cond delay="0"/>
                </p:stCondLst>
                <p:tgtEl>
                  <p:spTgt spid="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2" dur="indefinite" nodeType="tmRoot">
          <p:childTnLst>
            <p:par>
              <p:cTn id="20002" fill="hold" dur="450" presetID="1" presetClass="entr" presetSubtype="0" nodeType="withEffect">
                <p:stCondLst>
                  <p:cond delay="220"/>
                </p:stCondLst>
                <p:tgtEl>
                  <p:spTgt spid="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3" dur="indefinite" nodeType="tmRoot">
          <p:childTnLst>
            <p:par>
              <p:cTn id="20003" fill="hold" dur="450" presetID="1" presetClass="entr" presetSubtype="0" nodeType="withEffect">
                <p:stCondLst>
                  <p:cond delay="440"/>
                </p:stCondLst>
                <p:tgtEl>
                  <p:spTgt spid="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4" dur="indefinite" nodeType="tmRoot">
          <p:childTnLst>
            <p:par>
              <p:cTn id="20004" fill="hold" dur="450" presetID="1" presetClass="entr" presetSubtype="0" nodeType="withEffect">
                <p:stCondLst>
                  <p:cond delay="660"/>
                </p:stCondLst>
                <p:tgtEl>
                  <p:spTgt spid="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5" dur="indefinite" nodeType="tmRoot">
          <p:childTnLst>
            <p:par>
              <p:cTn id="20005" fill="hold" dur="450" presetID="1" presetClass="entr" presetSubtype="0" nodeType="withEffect">
                <p:stCondLst>
                  <p:cond delay="880"/>
                </p:stCondLst>
                <p:tgtEl>
                  <p:spTgt spid="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6" dur="indefinite" nodeType="tmRoot">
          <p:childTnLst>
            <p:par>
              <p:cTn id="20006" fill="hold" dur="450" presetID="1" presetClass="entr" presetSubtype="0" nodeType="withEffect">
                <p:stCondLst>
                  <p:cond delay="1100"/>
                </p:stCondLst>
                <p:tgtEl>
                  <p:spTgt spid="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7" dur="indefinite" nodeType="tmRoot">
          <p:childTnLst>
            <p:par>
              <p:cTn id="20007" fill="hold" dur="450" presetID="1" presetClass="entr" presetSubtype="0" nodeType="withEffect">
                <p:stCondLst>
                  <p:cond delay="1320"/>
                </p:stCondLst>
                <p:tgtEl>
                  <p:spTgt spid="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8" dur="indefinite" nodeType="tmRoot">
          <p:childTnLst>
            <p:par>
              <p:cTn id="20008" fill="hold" dur="450" presetID="1" presetClass="entr" presetSubtype="0" nodeType="withEffect">
                <p:stCondLst>
                  <p:cond delay="1540"/>
                </p:stCondLst>
                <p:tgtEl>
                  <p:spTgt spid="1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9" dur="indefinite" nodeType="tmRoot">
          <p:childTnLst>
            <p:par>
              <p:cTn id="20009" fill="hold" dur="450" presetID="1" presetClass="entr" presetSubtype="0" nodeType="withEffect">
                <p:stCondLst>
                  <p:cond delay="1760"/>
                </p:stCondLst>
                <p:tgtEl>
                  <p:spTgt spid="4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0" dur="indefinite" nodeType="tmRoot">
          <p:childTnLst>
            <p:par>
              <p:cTn id="20010" fill="hold" dur="450" presetID="1" presetClass="entr" presetSubtype="0" nodeType="withEffect">
                <p:stCondLst>
                  <p:cond delay="1800"/>
                </p:stCondLst>
                <p:tgtEl>
                  <p:spTgt spid="5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1" dur="indefinite" nodeType="tmRoot">
          <p:childTnLst>
            <p:par>
              <p:cTn id="20011" fill="hold" dur="450" presetID="1" presetClass="entr" presetSubtype="0" nodeType="withEffect">
                <p:stCondLst>
                  <p:cond delay="1800"/>
                </p:stCondLst>
                <p:tgtEl>
                  <p:spTgt spid="51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EBF2FA"/>
                </a:solidFill>
                <a:latin typeface="Aptos"/>
              </a:defRPr>
            </a:pPr>
            <a:r>
              <a:t>05  |  State-Space Visualization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554480" cy="41148"/>
          </a:xfrm>
          <a:prstGeom prst="rect">
            <a:avLst/>
          </a:prstGeom>
          <a:solidFill>
            <a:srgbClr val="41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2148840"/>
            <a:ext cx="1828800" cy="1463040"/>
          </a:xfrm>
          <a:prstGeom prst="roundRect">
            <a:avLst/>
          </a:prstGeom>
          <a:solidFill>
            <a:srgbClr val="162030"/>
          </a:solidFill>
          <a:ln>
            <a:solidFill>
              <a:srgbClr val="41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41B4FF"/>
                </a:solidFill>
                <a:latin typeface="Aptos"/>
              </a:defRPr>
            </a:pPr>
            <a:r>
              <a:t>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718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EBF2FA"/>
                </a:solidFill>
                <a:latin typeface="Aptos"/>
              </a:defRPr>
            </a:pPr>
            <a:r>
              <a:t>Initial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6060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5B4C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148840"/>
            <a:ext cx="1828800" cy="1463040"/>
          </a:xfrm>
          <a:prstGeom prst="roundRect">
            <a:avLst/>
          </a:prstGeom>
          <a:solidFill>
            <a:srgbClr val="162030"/>
          </a:solidFill>
          <a:ln>
            <a:solidFill>
              <a:srgbClr val="41D2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24231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41D291"/>
                </a:solidFill>
                <a:latin typeface="Aptos"/>
              </a:defRPr>
            </a:pPr>
            <a:r>
              <a:t>NEIGHBORS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9718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EBF2FA"/>
                </a:solidFill>
                <a:latin typeface="Aptos"/>
              </a:defRPr>
            </a:pPr>
            <a:r>
              <a:t>Possible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1" y="26060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5B4C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2148840"/>
            <a:ext cx="1828800" cy="1463040"/>
          </a:xfrm>
          <a:prstGeom prst="roundRect">
            <a:avLst/>
          </a:prstGeom>
          <a:solidFill>
            <a:srgbClr val="162030"/>
          </a:solidFill>
          <a:ln>
            <a:solidFill>
              <a:srgbClr val="F0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9240" y="24231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05A64"/>
                </a:solidFill>
                <a:latin typeface="Aptos"/>
              </a:defRPr>
            </a:pPr>
            <a:r>
              <a:t>OBSTACLES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9718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EBF2FA"/>
                </a:solidFill>
                <a:latin typeface="Aptos"/>
              </a:defRPr>
            </a:pPr>
            <a:r>
              <a:t>Blocked states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1" y="26060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5B4C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2148840"/>
            <a:ext cx="1828800" cy="1463040"/>
          </a:xfrm>
          <a:prstGeom prst="roundRect">
            <a:avLst/>
          </a:prstGeom>
          <a:solidFill>
            <a:srgbClr val="162030"/>
          </a:solidFill>
          <a:ln>
            <a:solidFill>
              <a:srgbClr val="FFA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24231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AA46"/>
                </a:solidFill>
                <a:latin typeface="Aptos"/>
              </a:defRPr>
            </a:pPr>
            <a:r>
              <a:t>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9718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EBF2FA"/>
                </a:solidFill>
                <a:latin typeface="Aptos"/>
              </a:defRPr>
            </a:pPr>
            <a:r>
              <a:t>Choose next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6060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5B4C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148840"/>
            <a:ext cx="1828800" cy="1463040"/>
          </a:xfrm>
          <a:prstGeom prst="roundRect">
            <a:avLst/>
          </a:prstGeom>
          <a:solidFill>
            <a:srgbClr val="162030"/>
          </a:solidFill>
          <a:ln>
            <a:solidFill>
              <a:srgbClr val="41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24231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41B4FF"/>
                </a:solidFill>
                <a:latin typeface="Aptos"/>
              </a:defRPr>
            </a:pPr>
            <a:r>
              <a:t>GOAL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29718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EBF2FA"/>
                </a:solidFill>
                <a:latin typeface="Aptos"/>
              </a:defRPr>
            </a:pPr>
            <a:r>
              <a:t>Destination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572000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EBF2FA"/>
                </a:solidFill>
                <a:latin typeface="Aptos"/>
              </a:defRPr>
            </a:pPr>
            <a:r>
              <a:t>A route-finding problem becomes a graph search problem.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291A5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  <p:transition advClick="0" advTm="7000">
    <p:fade/>
  </p:transition>
  <p:timing>
    <p:tnLst>
      <p:par>
        <p:cTn id="10001" dur="indefinite" nodeType="tmRoot">
          <p:childTnLst>
            <p:par>
              <p:cTn id="20001" fill="hold" dur="450" presetID="1" presetClass="entr" presetSubtype="0" nodeType="withEffect">
                <p:stCondLst>
                  <p:cond delay="0"/>
                </p:stCondLst>
                <p:tgtEl>
                  <p:spTgt spid="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2" dur="indefinite" nodeType="tmRoot">
          <p:childTnLst>
            <p:par>
              <p:cTn id="20002" fill="hold" dur="450" presetID="1" presetClass="entr" presetSubtype="0" nodeType="withEffect">
                <p:stCondLst>
                  <p:cond delay="220"/>
                </p:stCondLst>
                <p:tgtEl>
                  <p:spTgt spid="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3" dur="indefinite" nodeType="tmRoot">
          <p:childTnLst>
            <p:par>
              <p:cTn id="20003" fill="hold" dur="450" presetID="1" presetClass="entr" presetSubtype="0" nodeType="withEffect">
                <p:stCondLst>
                  <p:cond delay="440"/>
                </p:stCondLst>
                <p:tgtEl>
                  <p:spTgt spid="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4" dur="indefinite" nodeType="tmRoot">
          <p:childTnLst>
            <p:par>
              <p:cTn id="20004" fill="hold" dur="450" presetID="1" presetClass="entr" presetSubtype="0" nodeType="withEffect">
                <p:stCondLst>
                  <p:cond delay="660"/>
                </p:stCondLst>
                <p:tgtEl>
                  <p:spTgt spid="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5" dur="indefinite" nodeType="tmRoot">
          <p:childTnLst>
            <p:par>
              <p:cTn id="20005" fill="hold" dur="450" presetID="1" presetClass="entr" presetSubtype="0" nodeType="withEffect">
                <p:stCondLst>
                  <p:cond delay="880"/>
                </p:stCondLst>
                <p:tgtEl>
                  <p:spTgt spid="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6" dur="indefinite" nodeType="tmRoot">
          <p:childTnLst>
            <p:par>
              <p:cTn id="20006" fill="hold" dur="450" presetID="1" presetClass="entr" presetSubtype="0" nodeType="withEffect">
                <p:stCondLst>
                  <p:cond delay="1100"/>
                </p:stCondLst>
                <p:tgtEl>
                  <p:spTgt spid="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7" dur="indefinite" nodeType="tmRoot">
          <p:childTnLst>
            <p:par>
              <p:cTn id="20007" fill="hold" dur="450" presetID="1" presetClass="entr" presetSubtype="0" nodeType="withEffect">
                <p:stCondLst>
                  <p:cond delay="1320"/>
                </p:stCondLst>
                <p:tgtEl>
                  <p:spTgt spid="1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8" dur="indefinite" nodeType="tmRoot">
          <p:childTnLst>
            <p:par>
              <p:cTn id="20008" fill="hold" dur="450" presetID="1" presetClass="entr" presetSubtype="0" nodeType="withEffect">
                <p:stCondLst>
                  <p:cond delay="1540"/>
                </p:stCondLst>
                <p:tgtEl>
                  <p:spTgt spid="1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9" dur="indefinite" nodeType="tmRoot">
          <p:childTnLst>
            <p:par>
              <p:cTn id="20009" fill="hold" dur="450" presetID="1" presetClass="entr" presetSubtype="0" nodeType="withEffect">
                <p:stCondLst>
                  <p:cond delay="1760"/>
                </p:stCondLst>
                <p:tgtEl>
                  <p:spTgt spid="13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0" dur="indefinite" nodeType="tmRoot">
          <p:childTnLst>
            <p:par>
              <p:cTn id="20010" fill="hold" dur="450" presetID="1" presetClass="entr" presetSubtype="0" nodeType="withEffect">
                <p:stCondLst>
                  <p:cond delay="1800"/>
                </p:stCondLst>
                <p:tgtEl>
                  <p:spTgt spid="1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1" dur="indefinite" nodeType="tmRoot">
          <p:childTnLst>
            <p:par>
              <p:cTn id="20011" fill="hold" dur="450" presetID="1" presetClass="entr" presetSubtype="0" nodeType="withEffect">
                <p:stCondLst>
                  <p:cond delay="1800"/>
                </p:stCondLst>
                <p:tgtEl>
                  <p:spTgt spid="1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2" dur="indefinite" nodeType="tmRoot">
          <p:childTnLst>
            <p:par>
              <p:cTn id="20012" fill="hold" dur="450" presetID="1" presetClass="entr" presetSubtype="0" nodeType="withEffect">
                <p:stCondLst>
                  <p:cond delay="1800"/>
                </p:stCondLst>
                <p:tgtEl>
                  <p:spTgt spid="1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3" dur="indefinite" nodeType="tmRoot">
          <p:childTnLst>
            <p:par>
              <p:cTn id="20013" fill="hold" dur="450" presetID="1" presetClass="entr" presetSubtype="0" nodeType="withEffect">
                <p:stCondLst>
                  <p:cond delay="1800"/>
                </p:stCondLst>
                <p:tgtEl>
                  <p:spTgt spid="1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4" dur="indefinite" nodeType="tmRoot">
          <p:childTnLst>
            <p:par>
              <p:cTn id="20014" fill="hold" dur="450" presetID="1" presetClass="entr" presetSubtype="0" nodeType="withEffect">
                <p:stCondLst>
                  <p:cond delay="1800"/>
                </p:stCondLst>
                <p:tgtEl>
                  <p:spTgt spid="2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5" dur="indefinite" nodeType="tmRoot">
          <p:childTnLst>
            <p:par>
              <p:cTn id="20015" fill="hold" dur="450" presetID="1" presetClass="entr" presetSubtype="0" nodeType="withEffect">
                <p:stCondLst>
                  <p:cond delay="1800"/>
                </p:stCondLst>
                <p:tgtEl>
                  <p:spTgt spid="21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6" dur="indefinite" nodeType="tmRoot">
          <p:childTnLst>
            <p:par>
              <p:cTn id="20016" fill="hold" dur="450" presetID="1" presetClass="entr" presetSubtype="0" nodeType="withEffect">
                <p:stCondLst>
                  <p:cond delay="1800"/>
                </p:stCondLst>
                <p:tgtEl>
                  <p:spTgt spid="2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7" dur="indefinite" nodeType="tmRoot">
          <p:childTnLst>
            <p:par>
              <p:cTn id="20017" fill="hold" dur="450" presetID="1" presetClass="entr" presetSubtype="0" nodeType="withEffect">
                <p:stCondLst>
                  <p:cond delay="1800"/>
                </p:stCondLst>
                <p:tgtEl>
                  <p:spTgt spid="23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8" dur="indefinite" nodeType="tmRoot">
          <p:childTnLst>
            <p:par>
              <p:cTn id="20018" fill="hold" dur="450" presetID="1" presetClass="entr" presetSubtype="0" nodeType="withEffect">
                <p:stCondLst>
                  <p:cond delay="1800"/>
                </p:stCondLst>
                <p:tgtEl>
                  <p:spTgt spid="2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EBF2FA"/>
                </a:solidFill>
                <a:latin typeface="Aptos"/>
              </a:defRPr>
            </a:pPr>
            <a:r>
              <a:t>06  |  How the System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554480" cy="41148"/>
          </a:xfrm>
          <a:prstGeom prst="rect">
            <a:avLst/>
          </a:prstGeom>
          <a:solidFill>
            <a:srgbClr val="41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1600200" cy="1097280"/>
          </a:xfrm>
          <a:prstGeom prst="roundRect">
            <a:avLst/>
          </a:prstGeom>
          <a:solidFill>
            <a:srgbClr val="162030"/>
          </a:solidFill>
          <a:ln>
            <a:solidFill>
              <a:srgbClr val="41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228600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A5B4C6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25856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BF2FA"/>
                </a:solidFill>
                <a:latin typeface="Aptos"/>
              </a:defRPr>
            </a:pPr>
            <a:r>
              <a:t>Create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30552" y="2395728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A5B4C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2103120"/>
            <a:ext cx="1600200" cy="1097280"/>
          </a:xfrm>
          <a:prstGeom prst="roundRect">
            <a:avLst/>
          </a:prstGeom>
          <a:solidFill>
            <a:srgbClr val="162030"/>
          </a:solidFill>
          <a:ln>
            <a:solidFill>
              <a:srgbClr val="41D2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96312" y="228600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A5B4C6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70632" y="225856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BF2FA"/>
                </a:solidFill>
                <a:latin typeface="Aptos"/>
              </a:defRPr>
            </a:pPr>
            <a:r>
              <a:t>Add Obstacles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792" y="2395728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A5B4C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103120"/>
            <a:ext cx="1600200" cy="1097280"/>
          </a:xfrm>
          <a:prstGeom prst="roundRect">
            <a:avLst/>
          </a:prstGeom>
          <a:solidFill>
            <a:srgbClr val="162030"/>
          </a:solidFill>
          <a:ln>
            <a:solidFill>
              <a:srgbClr val="FFA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228600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A5B4C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25856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BF2FA"/>
                </a:solidFill>
                <a:latin typeface="Aptos"/>
              </a:defRPr>
            </a:pPr>
            <a:r>
              <a:t>Choose Algorithm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71032" y="2395728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A5B4C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103120"/>
            <a:ext cx="1600200" cy="1097280"/>
          </a:xfrm>
          <a:prstGeom prst="roundRect">
            <a:avLst/>
          </a:prstGeom>
          <a:solidFill>
            <a:srgbClr val="162030"/>
          </a:solidFill>
          <a:ln>
            <a:solidFill>
              <a:srgbClr val="41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228600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A5B4C6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112" y="225856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BF2FA"/>
                </a:solidFill>
                <a:latin typeface="Aptos"/>
              </a:defRPr>
            </a:pPr>
            <a:r>
              <a:t>Run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2395728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A5B4C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2103120"/>
            <a:ext cx="1600200" cy="1097280"/>
          </a:xfrm>
          <a:prstGeom prst="roundRect">
            <a:avLst/>
          </a:prstGeom>
          <a:solidFill>
            <a:srgbClr val="162030"/>
          </a:solidFill>
          <a:ln>
            <a:solidFill>
              <a:srgbClr val="41D2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228600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A5B4C6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225856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BF2FA"/>
                </a:solidFill>
                <a:latin typeface="Aptos"/>
              </a:defRPr>
            </a:pPr>
            <a:r>
              <a:t>Visualize Path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1512" y="2395728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A5B4C6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2103120"/>
            <a:ext cx="1600200" cy="1097280"/>
          </a:xfrm>
          <a:prstGeom prst="roundRect">
            <a:avLst/>
          </a:prstGeom>
          <a:solidFill>
            <a:srgbClr val="162030"/>
          </a:solidFill>
          <a:ln>
            <a:solidFill>
              <a:srgbClr val="FFA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77272" y="228600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A5B4C6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51592" y="225856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BF2FA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291A5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  <p:transition advClick="0" advTm="7000">
    <p:fade/>
  </p:transition>
  <p:timing>
    <p:tnLst>
      <p:par>
        <p:cTn id="10001" dur="indefinite" nodeType="tmRoot">
          <p:childTnLst>
            <p:par>
              <p:cTn id="20001" fill="hold" dur="450" presetID="1" presetClass="entr" presetSubtype="0" nodeType="withEffect">
                <p:stCondLst>
                  <p:cond delay="0"/>
                </p:stCondLst>
                <p:tgtEl>
                  <p:spTgt spid="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2" dur="indefinite" nodeType="tmRoot">
          <p:childTnLst>
            <p:par>
              <p:cTn id="20002" fill="hold" dur="450" presetID="1" presetClass="entr" presetSubtype="0" nodeType="withEffect">
                <p:stCondLst>
                  <p:cond delay="220"/>
                </p:stCondLst>
                <p:tgtEl>
                  <p:spTgt spid="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3" dur="indefinite" nodeType="tmRoot">
          <p:childTnLst>
            <p:par>
              <p:cTn id="20003" fill="hold" dur="450" presetID="1" presetClass="entr" presetSubtype="0" nodeType="withEffect">
                <p:stCondLst>
                  <p:cond delay="440"/>
                </p:stCondLst>
                <p:tgtEl>
                  <p:spTgt spid="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4" dur="indefinite" nodeType="tmRoot">
          <p:childTnLst>
            <p:par>
              <p:cTn id="20004" fill="hold" dur="450" presetID="1" presetClass="entr" presetSubtype="0" nodeType="withEffect">
                <p:stCondLst>
                  <p:cond delay="660"/>
                </p:stCondLst>
                <p:tgtEl>
                  <p:spTgt spid="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5" dur="indefinite" nodeType="tmRoot">
          <p:childTnLst>
            <p:par>
              <p:cTn id="20005" fill="hold" dur="450" presetID="1" presetClass="entr" presetSubtype="0" nodeType="withEffect">
                <p:stCondLst>
                  <p:cond delay="880"/>
                </p:stCondLst>
                <p:tgtEl>
                  <p:spTgt spid="1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6" dur="indefinite" nodeType="tmRoot">
          <p:childTnLst>
            <p:par>
              <p:cTn id="20006" fill="hold" dur="450" presetID="1" presetClass="entr" presetSubtype="0" nodeType="withEffect">
                <p:stCondLst>
                  <p:cond delay="1100"/>
                </p:stCondLst>
                <p:tgtEl>
                  <p:spTgt spid="1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7" dur="indefinite" nodeType="tmRoot">
          <p:childTnLst>
            <p:par>
              <p:cTn id="20007" fill="hold" dur="450" presetID="1" presetClass="entr" presetSubtype="0" nodeType="withEffect">
                <p:stCondLst>
                  <p:cond delay="1320"/>
                </p:stCondLst>
                <p:tgtEl>
                  <p:spTgt spid="1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8" dur="indefinite" nodeType="tmRoot">
          <p:childTnLst>
            <p:par>
              <p:cTn id="20008" fill="hold" dur="450" presetID="1" presetClass="entr" presetSubtype="0" nodeType="withEffect">
                <p:stCondLst>
                  <p:cond delay="1540"/>
                </p:stCondLst>
                <p:tgtEl>
                  <p:spTgt spid="1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9" dur="indefinite" nodeType="tmRoot">
          <p:childTnLst>
            <p:par>
              <p:cTn id="20009" fill="hold" dur="450" presetID="1" presetClass="entr" presetSubtype="0" nodeType="withEffect">
                <p:stCondLst>
                  <p:cond delay="1760"/>
                </p:stCondLst>
                <p:tgtEl>
                  <p:spTgt spid="1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0" dur="indefinite" nodeType="tmRoot">
          <p:childTnLst>
            <p:par>
              <p:cTn id="20010" fill="hold" dur="450" presetID="1" presetClass="entr" presetSubtype="0" nodeType="withEffect">
                <p:stCondLst>
                  <p:cond delay="1800"/>
                </p:stCondLst>
                <p:tgtEl>
                  <p:spTgt spid="2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1" dur="indefinite" nodeType="tmRoot">
          <p:childTnLst>
            <p:par>
              <p:cTn id="20011" fill="hold" dur="450" presetID="1" presetClass="entr" presetSubtype="0" nodeType="withEffect">
                <p:stCondLst>
                  <p:cond delay="1800"/>
                </p:stCondLst>
                <p:tgtEl>
                  <p:spTgt spid="2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2" dur="indefinite" nodeType="tmRoot">
          <p:childTnLst>
            <p:par>
              <p:cTn id="20012" fill="hold" dur="450" presetID="1" presetClass="entr" presetSubtype="0" nodeType="withEffect">
                <p:stCondLst>
                  <p:cond delay="1800"/>
                </p:stCondLst>
                <p:tgtEl>
                  <p:spTgt spid="2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3" dur="indefinite" nodeType="tmRoot">
          <p:childTnLst>
            <p:par>
              <p:cTn id="20013" fill="hold" dur="450" presetID="1" presetClass="entr" presetSubtype="0" nodeType="withEffect">
                <p:stCondLst>
                  <p:cond delay="1800"/>
                </p:stCondLst>
                <p:tgtEl>
                  <p:spTgt spid="2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4" dur="indefinite" nodeType="tmRoot">
          <p:childTnLst>
            <p:par>
              <p:cTn id="20014" fill="hold" dur="450" presetID="1" presetClass="entr" presetSubtype="0" nodeType="withEffect">
                <p:stCondLst>
                  <p:cond delay="1800"/>
                </p:stCondLst>
                <p:tgtEl>
                  <p:spTgt spid="2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EBF2FA"/>
                </a:solidFill>
                <a:latin typeface="Aptos"/>
              </a:defRPr>
            </a:pPr>
            <a:r>
              <a:t>07  |  Algorithm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554480" cy="41148"/>
          </a:xfrm>
          <a:prstGeom prst="rect">
            <a:avLst/>
          </a:prstGeom>
          <a:solidFill>
            <a:srgbClr val="41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A5B4C6"/>
                </a:solidFill>
                <a:latin typeface="Aptos"/>
              </a:defRPr>
            </a:pPr>
            <a:r>
              <a:t>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41732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A5B4C6"/>
                </a:solidFill>
                <a:latin typeface="Aptos"/>
              </a:defRPr>
            </a:pPr>
            <a:r>
              <a:t>PATH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4173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A5B4C6"/>
                </a:solidFill>
                <a:latin typeface="Aptos"/>
              </a:defRPr>
            </a:pPr>
            <a:r>
              <a:t>KEY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B4FF"/>
                </a:solidFill>
                <a:latin typeface="Aptos"/>
              </a:defRPr>
            </a:pPr>
            <a:r>
              <a:t>BFS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874519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EBF2FA"/>
                </a:solidFill>
                <a:latin typeface="Aptos"/>
              </a:defRPr>
            </a:pPr>
            <a:r>
              <a:t>Shortest path*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874519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EBF2FA"/>
                </a:solidFill>
                <a:latin typeface="Aptos"/>
              </a:defRPr>
            </a:pPr>
            <a:r>
              <a:t>No heuristic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7752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D291"/>
                </a:solidFill>
                <a:latin typeface="Aptos"/>
              </a:defRPr>
            </a:pPr>
            <a:r>
              <a:t>DFS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587752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EBF2FA"/>
                </a:solidFill>
                <a:latin typeface="Aptos"/>
              </a:defRPr>
            </a:pPr>
            <a:r>
              <a:t>Not guaranteed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87752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EBF2FA"/>
                </a:solidFill>
                <a:latin typeface="Aptos"/>
              </a:defRPr>
            </a:pPr>
            <a:r>
              <a:t>Depth-first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00984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FFAA46"/>
                </a:solidFill>
                <a:latin typeface="Aptos"/>
              </a:defRPr>
            </a:pPr>
            <a:r>
              <a:t>Greedy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300984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EBF2FA"/>
                </a:solidFill>
                <a:latin typeface="Aptos"/>
              </a:defRPr>
            </a:pPr>
            <a:r>
              <a:t>Not guaranteed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300984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EBF2FA"/>
                </a:solidFill>
                <a:latin typeface="Aptos"/>
              </a:defRPr>
            </a:pPr>
            <a:r>
              <a:t>Heuristic-driven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014215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B4FF"/>
                </a:solidFill>
                <a:latin typeface="Aptos"/>
              </a:defRPr>
            </a:pPr>
            <a:r>
              <a:t>A*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14215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EBF2FA"/>
                </a:solidFill>
                <a:latin typeface="Aptos"/>
              </a:defRPr>
            </a:pPr>
            <a:r>
              <a:t>Optimal*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14215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EBF2FA"/>
                </a:solidFill>
                <a:latin typeface="Aptos"/>
              </a:defRPr>
            </a:pPr>
            <a:r>
              <a:t>Cost + heuristic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27448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F05A64"/>
                </a:solidFill>
                <a:latin typeface="Aptos"/>
              </a:defRPr>
            </a:pPr>
            <a:r>
              <a:t>Hill Climbing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727448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EBF2FA"/>
                </a:solidFill>
                <a:latin typeface="Aptos"/>
              </a:defRPr>
            </a:pPr>
            <a:r>
              <a:t>Not guaranteed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727448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EBF2FA"/>
                </a:solidFill>
                <a:latin typeface="Aptos"/>
              </a:defRPr>
            </a:pPr>
            <a:r>
              <a:t>Local 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6235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A5B4C6"/>
                </a:solidFill>
                <a:latin typeface="Aptos"/>
              </a:defRPr>
            </a:pPr>
            <a:r>
              <a:t>*Under appropriate assumptions such as equal movement cost.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291A5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  <p:transition advClick="0" advTm="7000">
    <p:fade/>
  </p:transition>
  <p:timing>
    <p:tnLst>
      <p:par>
        <p:cTn id="10001" dur="indefinite" nodeType="tmRoot">
          <p:childTnLst>
            <p:par>
              <p:cTn id="20001" fill="hold" dur="450" presetID="1" presetClass="entr" presetSubtype="0" nodeType="withEffect">
                <p:stCondLst>
                  <p:cond delay="0"/>
                </p:stCondLst>
                <p:tgtEl>
                  <p:spTgt spid="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2" dur="indefinite" nodeType="tmRoot">
          <p:childTnLst>
            <p:par>
              <p:cTn id="20002" fill="hold" dur="450" presetID="1" presetClass="entr" presetSubtype="0" nodeType="withEffect">
                <p:stCondLst>
                  <p:cond delay="220"/>
                </p:stCondLst>
                <p:tgtEl>
                  <p:spTgt spid="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3" dur="indefinite" nodeType="tmRoot">
          <p:childTnLst>
            <p:par>
              <p:cTn id="20003" fill="hold" dur="450" presetID="1" presetClass="entr" presetSubtype="0" nodeType="withEffect">
                <p:stCondLst>
                  <p:cond delay="440"/>
                </p:stCondLst>
                <p:tgtEl>
                  <p:spTgt spid="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4" dur="indefinite" nodeType="tmRoot">
          <p:childTnLst>
            <p:par>
              <p:cTn id="20004" fill="hold" dur="450" presetID="1" presetClass="entr" presetSubtype="0" nodeType="withEffect">
                <p:stCondLst>
                  <p:cond delay="660"/>
                </p:stCondLst>
                <p:tgtEl>
                  <p:spTgt spid="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5" dur="indefinite" nodeType="tmRoot">
          <p:childTnLst>
            <p:par>
              <p:cTn id="20005" fill="hold" dur="450" presetID="1" presetClass="entr" presetSubtype="0" nodeType="withEffect">
                <p:stCondLst>
                  <p:cond delay="880"/>
                </p:stCondLst>
                <p:tgtEl>
                  <p:spTgt spid="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6" dur="indefinite" nodeType="tmRoot">
          <p:childTnLst>
            <p:par>
              <p:cTn id="20006" fill="hold" dur="450" presetID="1" presetClass="entr" presetSubtype="0" nodeType="withEffect">
                <p:stCondLst>
                  <p:cond delay="1100"/>
                </p:stCondLst>
                <p:tgtEl>
                  <p:spTgt spid="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7" dur="indefinite" nodeType="tmRoot">
          <p:childTnLst>
            <p:par>
              <p:cTn id="20007" fill="hold" dur="450" presetID="1" presetClass="entr" presetSubtype="0" nodeType="withEffect">
                <p:stCondLst>
                  <p:cond delay="1320"/>
                </p:stCondLst>
                <p:tgtEl>
                  <p:spTgt spid="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8" dur="indefinite" nodeType="tmRoot">
          <p:childTnLst>
            <p:par>
              <p:cTn id="20008" fill="hold" dur="450" presetID="1" presetClass="entr" presetSubtype="0" nodeType="withEffect">
                <p:stCondLst>
                  <p:cond delay="1540"/>
                </p:stCondLst>
                <p:tgtEl>
                  <p:spTgt spid="1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9" dur="indefinite" nodeType="tmRoot">
          <p:childTnLst>
            <p:par>
              <p:cTn id="20009" fill="hold" dur="450" presetID="1" presetClass="entr" presetSubtype="0" nodeType="withEffect">
                <p:stCondLst>
                  <p:cond delay="1760"/>
                </p:stCondLst>
                <p:tgtEl>
                  <p:spTgt spid="11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0" dur="indefinite" nodeType="tmRoot">
          <p:childTnLst>
            <p:par>
              <p:cTn id="20010" fill="hold" dur="450" presetID="1" presetClass="entr" presetSubtype="0" nodeType="withEffect">
                <p:stCondLst>
                  <p:cond delay="1800"/>
                </p:stCondLst>
                <p:tgtEl>
                  <p:spTgt spid="1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1" dur="indefinite" nodeType="tmRoot">
          <p:childTnLst>
            <p:par>
              <p:cTn id="20011" fill="hold" dur="450" presetID="1" presetClass="entr" presetSubtype="0" nodeType="withEffect">
                <p:stCondLst>
                  <p:cond delay="1800"/>
                </p:stCondLst>
                <p:tgtEl>
                  <p:spTgt spid="13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2" dur="indefinite" nodeType="tmRoot">
          <p:childTnLst>
            <p:par>
              <p:cTn id="20012" fill="hold" dur="450" presetID="1" presetClass="entr" presetSubtype="0" nodeType="withEffect">
                <p:stCondLst>
                  <p:cond delay="1800"/>
                </p:stCondLst>
                <p:tgtEl>
                  <p:spTgt spid="1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3" dur="indefinite" nodeType="tmRoot">
          <p:childTnLst>
            <p:par>
              <p:cTn id="20013" fill="hold" dur="450" presetID="1" presetClass="entr" presetSubtype="0" nodeType="withEffect">
                <p:stCondLst>
                  <p:cond delay="1800"/>
                </p:stCondLst>
                <p:tgtEl>
                  <p:spTgt spid="1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4" dur="indefinite" nodeType="tmRoot">
          <p:childTnLst>
            <p:par>
              <p:cTn id="20014" fill="hold" dur="450" presetID="1" presetClass="entr" presetSubtype="0" nodeType="withEffect">
                <p:stCondLst>
                  <p:cond delay="1800"/>
                </p:stCondLst>
                <p:tgtEl>
                  <p:spTgt spid="1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5" dur="indefinite" nodeType="tmRoot">
          <p:childTnLst>
            <p:par>
              <p:cTn id="20015" fill="hold" dur="450" presetID="1" presetClass="entr" presetSubtype="0" nodeType="withEffect">
                <p:stCondLst>
                  <p:cond delay="1800"/>
                </p:stCondLst>
                <p:tgtEl>
                  <p:spTgt spid="1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6" dur="indefinite" nodeType="tmRoot">
          <p:childTnLst>
            <p:par>
              <p:cTn id="20016" fill="hold" dur="450" presetID="1" presetClass="entr" presetSubtype="0" nodeType="withEffect">
                <p:stCondLst>
                  <p:cond delay="1800"/>
                </p:stCondLst>
                <p:tgtEl>
                  <p:spTgt spid="1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7" dur="indefinite" nodeType="tmRoot">
          <p:childTnLst>
            <p:par>
              <p:cTn id="20017" fill="hold" dur="450" presetID="1" presetClass="entr" presetSubtype="0" nodeType="withEffect">
                <p:stCondLst>
                  <p:cond delay="1800"/>
                </p:stCondLst>
                <p:tgtEl>
                  <p:spTgt spid="1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8" dur="indefinite" nodeType="tmRoot">
          <p:childTnLst>
            <p:par>
              <p:cTn id="20018" fill="hold" dur="450" presetID="1" presetClass="entr" presetSubtype="0" nodeType="withEffect">
                <p:stCondLst>
                  <p:cond delay="1800"/>
                </p:stCondLst>
                <p:tgtEl>
                  <p:spTgt spid="2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9" dur="indefinite" nodeType="tmRoot">
          <p:childTnLst>
            <p:par>
              <p:cTn id="20019" fill="hold" dur="450" presetID="1" presetClass="entr" presetSubtype="0" nodeType="withEffect">
                <p:stCondLst>
                  <p:cond delay="1800"/>
                </p:stCondLst>
                <p:tgtEl>
                  <p:spTgt spid="21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20" dur="indefinite" nodeType="tmRoot">
          <p:childTnLst>
            <p:par>
              <p:cTn id="20020" fill="hold" dur="450" presetID="1" presetClass="entr" presetSubtype="0" nodeType="withEffect">
                <p:stCondLst>
                  <p:cond delay="1800"/>
                </p:stCondLst>
                <p:tgtEl>
                  <p:spTgt spid="2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21" dur="indefinite" nodeType="tmRoot">
          <p:childTnLst>
            <p:par>
              <p:cTn id="20021" fill="hold" dur="450" presetID="1" presetClass="entr" presetSubtype="0" nodeType="withEffect">
                <p:stCondLst>
                  <p:cond delay="1800"/>
                </p:stCondLst>
                <p:tgtEl>
                  <p:spTgt spid="23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EBF2FA"/>
                </a:solidFill>
                <a:latin typeface="Aptos"/>
              </a:defRPr>
            </a:pPr>
            <a:r>
              <a:t>08  |  What We Measure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554480" cy="41148"/>
          </a:xfrm>
          <a:prstGeom prst="rect">
            <a:avLst/>
          </a:prstGeom>
          <a:solidFill>
            <a:srgbClr val="41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3154680" cy="2468880"/>
          </a:xfrm>
          <a:prstGeom prst="roundRect">
            <a:avLst/>
          </a:prstGeom>
          <a:solidFill>
            <a:srgbClr val="162030"/>
          </a:solidFill>
          <a:ln>
            <a:solidFill>
              <a:srgbClr val="41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B4FF"/>
                </a:solidFill>
                <a:latin typeface="Aptos"/>
              </a:defRPr>
            </a:pPr>
            <a:r>
              <a:t>PATH LENGTH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278892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How long is the route?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1828800"/>
            <a:ext cx="3154680" cy="2468880"/>
          </a:xfrm>
          <a:prstGeom prst="roundRect">
            <a:avLst/>
          </a:prstGeom>
          <a:solidFill>
            <a:srgbClr val="162030"/>
          </a:solidFill>
          <a:ln>
            <a:solidFill>
              <a:srgbClr val="41D2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1965960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D291"/>
                </a:solidFill>
                <a:latin typeface="Aptos"/>
              </a:defRPr>
            </a:pPr>
            <a:r>
              <a:t>NODES EXPLORED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78892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How much of the state space?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828800"/>
            <a:ext cx="3154680" cy="2468880"/>
          </a:xfrm>
          <a:prstGeom prst="roundRect">
            <a:avLst/>
          </a:prstGeom>
          <a:solidFill>
            <a:srgbClr val="162030"/>
          </a:solidFill>
          <a:ln>
            <a:solidFill>
              <a:srgbClr val="FFA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965960"/>
            <a:ext cx="2788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FFAA46"/>
                </a:solidFill>
                <a:latin typeface="Aptos"/>
              </a:defRPr>
            </a:pPr>
            <a:r>
              <a:t>EXECUTION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377440"/>
            <a:ext cx="278892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How quickly did it run?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EBF2FA"/>
                </a:solidFill>
                <a:latin typeface="Aptos"/>
              </a:defRPr>
            </a:pPr>
            <a:r>
              <a:t>The same grid can reveal very different search behavior.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291A5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  <p:transition advClick="0" advTm="7000">
    <p:fade/>
  </p:transition>
  <p:timing>
    <p:tnLst>
      <p:par>
        <p:cTn id="10001" dur="indefinite" nodeType="tmRoot">
          <p:childTnLst>
            <p:par>
              <p:cTn id="20001" fill="hold" dur="450" presetID="1" presetClass="entr" presetSubtype="0" nodeType="withEffect">
                <p:stCondLst>
                  <p:cond delay="0"/>
                </p:stCondLst>
                <p:tgtEl>
                  <p:spTgt spid="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2" dur="indefinite" nodeType="tmRoot">
          <p:childTnLst>
            <p:par>
              <p:cTn id="20002" fill="hold" dur="450" presetID="1" presetClass="entr" presetSubtype="0" nodeType="withEffect">
                <p:stCondLst>
                  <p:cond delay="220"/>
                </p:stCondLst>
                <p:tgtEl>
                  <p:spTgt spid="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3" dur="indefinite" nodeType="tmRoot">
          <p:childTnLst>
            <p:par>
              <p:cTn id="20003" fill="hold" dur="450" presetID="1" presetClass="entr" presetSubtype="0" nodeType="withEffect">
                <p:stCondLst>
                  <p:cond delay="440"/>
                </p:stCondLst>
                <p:tgtEl>
                  <p:spTgt spid="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4" dur="indefinite" nodeType="tmRoot">
          <p:childTnLst>
            <p:par>
              <p:cTn id="20004" fill="hold" dur="450" presetID="1" presetClass="entr" presetSubtype="0" nodeType="withEffect">
                <p:stCondLst>
                  <p:cond delay="660"/>
                </p:stCondLst>
                <p:tgtEl>
                  <p:spTgt spid="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5" dur="indefinite" nodeType="tmRoot">
          <p:childTnLst>
            <p:par>
              <p:cTn id="20005" fill="hold" dur="450" presetID="1" presetClass="entr" presetSubtype="0" nodeType="withEffect">
                <p:stCondLst>
                  <p:cond delay="880"/>
                </p:stCondLst>
                <p:tgtEl>
                  <p:spTgt spid="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6" dur="indefinite" nodeType="tmRoot">
          <p:childTnLst>
            <p:par>
              <p:cTn id="20006" fill="hold" dur="450" presetID="1" presetClass="entr" presetSubtype="0" nodeType="withEffect">
                <p:stCondLst>
                  <p:cond delay="1100"/>
                </p:stCondLst>
                <p:tgtEl>
                  <p:spTgt spid="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7" dur="indefinite" nodeType="tmRoot">
          <p:childTnLst>
            <p:par>
              <p:cTn id="20007" fill="hold" dur="450" presetID="1" presetClass="entr" presetSubtype="0" nodeType="withEffect">
                <p:stCondLst>
                  <p:cond delay="1320"/>
                </p:stCondLst>
                <p:tgtEl>
                  <p:spTgt spid="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8" dur="indefinite" nodeType="tmRoot">
          <p:childTnLst>
            <p:par>
              <p:cTn id="20008" fill="hold" dur="450" presetID="1" presetClass="entr" presetSubtype="0" nodeType="withEffect">
                <p:stCondLst>
                  <p:cond delay="1540"/>
                </p:stCondLst>
                <p:tgtEl>
                  <p:spTgt spid="1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9" dur="indefinite" nodeType="tmRoot">
          <p:childTnLst>
            <p:par>
              <p:cTn id="20009" fill="hold" dur="450" presetID="1" presetClass="entr" presetSubtype="0" nodeType="withEffect">
                <p:stCondLst>
                  <p:cond delay="1760"/>
                </p:stCondLst>
                <p:tgtEl>
                  <p:spTgt spid="11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0" dur="indefinite" nodeType="tmRoot">
          <p:childTnLst>
            <p:par>
              <p:cTn id="20010" fill="hold" dur="450" presetID="1" presetClass="entr" presetSubtype="0" nodeType="withEffect">
                <p:stCondLst>
                  <p:cond delay="1800"/>
                </p:stCondLst>
                <p:tgtEl>
                  <p:spTgt spid="1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1" dur="indefinite" nodeType="tmRoot">
          <p:childTnLst>
            <p:par>
              <p:cTn id="20011" fill="hold" dur="450" presetID="1" presetClass="entr" presetSubtype="0" nodeType="withEffect">
                <p:stCondLst>
                  <p:cond delay="1800"/>
                </p:stCondLst>
                <p:tgtEl>
                  <p:spTgt spid="13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2" dur="indefinite" nodeType="tmRoot">
          <p:childTnLst>
            <p:par>
              <p:cTn id="20012" fill="hold" dur="450" presetID="1" presetClass="entr" presetSubtype="0" nodeType="withEffect">
                <p:stCondLst>
                  <p:cond delay="1800"/>
                </p:stCondLst>
                <p:tgtEl>
                  <p:spTgt spid="1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EBF2FA"/>
                </a:solidFill>
                <a:latin typeface="Aptos"/>
              </a:defRPr>
            </a:pPr>
            <a:r>
              <a:t>09  |  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554480" cy="41148"/>
          </a:xfrm>
          <a:prstGeom prst="rect">
            <a:avLst/>
          </a:prstGeom>
          <a:solidFill>
            <a:srgbClr val="41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200400" cy="1417320"/>
          </a:xfrm>
          <a:prstGeom prst="roundRect">
            <a:avLst/>
          </a:prstGeom>
          <a:solidFill>
            <a:srgbClr val="162030"/>
          </a:solidFill>
          <a:ln>
            <a:solidFill>
              <a:srgbClr val="41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19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B4FF"/>
                </a:solidFill>
                <a:latin typeface="Aptos"/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2834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Core implementation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1508760"/>
            <a:ext cx="3200400" cy="1417320"/>
          </a:xfrm>
          <a:prstGeom prst="roundRect">
            <a:avLst/>
          </a:prstGeom>
          <a:solidFill>
            <a:srgbClr val="162030"/>
          </a:solidFill>
          <a:ln>
            <a:solidFill>
              <a:srgbClr val="41D2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645919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D291"/>
                </a:solidFill>
                <a:latin typeface="Aptos"/>
              </a:defRPr>
            </a:pPr>
            <a:r>
              <a:t>Tkinter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057400"/>
            <a:ext cx="2834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GUI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508760"/>
            <a:ext cx="3200400" cy="1417320"/>
          </a:xfrm>
          <a:prstGeom prst="roundRect">
            <a:avLst/>
          </a:prstGeom>
          <a:solidFill>
            <a:srgbClr val="162030"/>
          </a:solidFill>
          <a:ln>
            <a:solidFill>
              <a:srgbClr val="FFA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645919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FFAA46"/>
                </a:solidFill>
                <a:latin typeface="Aptos"/>
              </a:defRPr>
            </a:pPr>
            <a:r>
              <a:t>Queues / Stacks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57400"/>
            <a:ext cx="2834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Search structures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29000"/>
            <a:ext cx="3200400" cy="1417320"/>
          </a:xfrm>
          <a:prstGeom prst="roundRect">
            <a:avLst/>
          </a:prstGeom>
          <a:solidFill>
            <a:srgbClr val="162030"/>
          </a:solidFill>
          <a:ln>
            <a:solidFill>
              <a:srgbClr val="41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B4FF"/>
                </a:solidFill>
                <a:latin typeface="Aptos"/>
              </a:defRPr>
            </a:pPr>
            <a:r>
              <a:t>Priority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77639"/>
            <a:ext cx="2834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Informed 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59" y="3429000"/>
            <a:ext cx="3200400" cy="1417320"/>
          </a:xfrm>
          <a:prstGeom prst="roundRect">
            <a:avLst/>
          </a:prstGeom>
          <a:solidFill>
            <a:srgbClr val="162030"/>
          </a:solidFill>
          <a:ln>
            <a:solidFill>
              <a:srgbClr val="F0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356616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F05A64"/>
                </a:solidFill>
                <a:latin typeface="Aptos"/>
              </a:defRPr>
            </a:pPr>
            <a:r>
              <a:t>Heuristics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977639"/>
            <a:ext cx="2834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A* guidance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291A5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  <p:transition advClick="0" advTm="7000">
    <p:fade/>
  </p:transition>
  <p:timing>
    <p:tnLst>
      <p:par>
        <p:cTn id="10001" dur="indefinite" nodeType="tmRoot">
          <p:childTnLst>
            <p:par>
              <p:cTn id="20001" fill="hold" dur="450" presetID="1" presetClass="entr" presetSubtype="0" nodeType="withEffect">
                <p:stCondLst>
                  <p:cond delay="0"/>
                </p:stCondLst>
                <p:tgtEl>
                  <p:spTgt spid="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2" dur="indefinite" nodeType="tmRoot">
          <p:childTnLst>
            <p:par>
              <p:cTn id="20002" fill="hold" dur="450" presetID="1" presetClass="entr" presetSubtype="0" nodeType="withEffect">
                <p:stCondLst>
                  <p:cond delay="220"/>
                </p:stCondLst>
                <p:tgtEl>
                  <p:spTgt spid="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3" dur="indefinite" nodeType="tmRoot">
          <p:childTnLst>
            <p:par>
              <p:cTn id="20003" fill="hold" dur="450" presetID="1" presetClass="entr" presetSubtype="0" nodeType="withEffect">
                <p:stCondLst>
                  <p:cond delay="440"/>
                </p:stCondLst>
                <p:tgtEl>
                  <p:spTgt spid="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4" dur="indefinite" nodeType="tmRoot">
          <p:childTnLst>
            <p:par>
              <p:cTn id="20004" fill="hold" dur="450" presetID="1" presetClass="entr" presetSubtype="0" nodeType="withEffect">
                <p:stCondLst>
                  <p:cond delay="660"/>
                </p:stCondLst>
                <p:tgtEl>
                  <p:spTgt spid="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5" dur="indefinite" nodeType="tmRoot">
          <p:childTnLst>
            <p:par>
              <p:cTn id="20005" fill="hold" dur="450" presetID="1" presetClass="entr" presetSubtype="0" nodeType="withEffect">
                <p:stCondLst>
                  <p:cond delay="880"/>
                </p:stCondLst>
                <p:tgtEl>
                  <p:spTgt spid="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6" dur="indefinite" nodeType="tmRoot">
          <p:childTnLst>
            <p:par>
              <p:cTn id="20006" fill="hold" dur="450" presetID="1" presetClass="entr" presetSubtype="0" nodeType="withEffect">
                <p:stCondLst>
                  <p:cond delay="1100"/>
                </p:stCondLst>
                <p:tgtEl>
                  <p:spTgt spid="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7" dur="indefinite" nodeType="tmRoot">
          <p:childTnLst>
            <p:par>
              <p:cTn id="20007" fill="hold" dur="450" presetID="1" presetClass="entr" presetSubtype="0" nodeType="withEffect">
                <p:stCondLst>
                  <p:cond delay="1320"/>
                </p:stCondLst>
                <p:tgtEl>
                  <p:spTgt spid="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8" dur="indefinite" nodeType="tmRoot">
          <p:childTnLst>
            <p:par>
              <p:cTn id="20008" fill="hold" dur="450" presetID="1" presetClass="entr" presetSubtype="0" nodeType="withEffect">
                <p:stCondLst>
                  <p:cond delay="1540"/>
                </p:stCondLst>
                <p:tgtEl>
                  <p:spTgt spid="1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9" dur="indefinite" nodeType="tmRoot">
          <p:childTnLst>
            <p:par>
              <p:cTn id="20009" fill="hold" dur="450" presetID="1" presetClass="entr" presetSubtype="0" nodeType="withEffect">
                <p:stCondLst>
                  <p:cond delay="1760"/>
                </p:stCondLst>
                <p:tgtEl>
                  <p:spTgt spid="11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0" dur="indefinite" nodeType="tmRoot">
          <p:childTnLst>
            <p:par>
              <p:cTn id="20010" fill="hold" dur="450" presetID="1" presetClass="entr" presetSubtype="0" nodeType="withEffect">
                <p:stCondLst>
                  <p:cond delay="1800"/>
                </p:stCondLst>
                <p:tgtEl>
                  <p:spTgt spid="1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1" dur="indefinite" nodeType="tmRoot">
          <p:childTnLst>
            <p:par>
              <p:cTn id="20011" fill="hold" dur="450" presetID="1" presetClass="entr" presetSubtype="0" nodeType="withEffect">
                <p:stCondLst>
                  <p:cond delay="1800"/>
                </p:stCondLst>
                <p:tgtEl>
                  <p:spTgt spid="13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2" dur="indefinite" nodeType="tmRoot">
          <p:childTnLst>
            <p:par>
              <p:cTn id="20012" fill="hold" dur="450" presetID="1" presetClass="entr" presetSubtype="0" nodeType="withEffect">
                <p:stCondLst>
                  <p:cond delay="1800"/>
                </p:stCondLst>
                <p:tgtEl>
                  <p:spTgt spid="1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3" dur="indefinite" nodeType="tmRoot">
          <p:childTnLst>
            <p:par>
              <p:cTn id="20013" fill="hold" dur="450" presetID="1" presetClass="entr" presetSubtype="0" nodeType="withEffect">
                <p:stCondLst>
                  <p:cond delay="1800"/>
                </p:stCondLst>
                <p:tgtEl>
                  <p:spTgt spid="1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4" dur="indefinite" nodeType="tmRoot">
          <p:childTnLst>
            <p:par>
              <p:cTn id="20014" fill="hold" dur="450" presetID="1" presetClass="entr" presetSubtype="0" nodeType="withEffect">
                <p:stCondLst>
                  <p:cond delay="1800"/>
                </p:stCondLst>
                <p:tgtEl>
                  <p:spTgt spid="1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5" dur="indefinite" nodeType="tmRoot">
          <p:childTnLst>
            <p:par>
              <p:cTn id="20015" fill="hold" dur="450" presetID="1" presetClass="entr" presetSubtype="0" nodeType="withEffect">
                <p:stCondLst>
                  <p:cond delay="1800"/>
                </p:stCondLst>
                <p:tgtEl>
                  <p:spTgt spid="1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6" dur="indefinite" nodeType="tmRoot">
          <p:childTnLst>
            <p:par>
              <p:cTn id="20016" fill="hold" dur="450" presetID="1" presetClass="entr" presetSubtype="0" nodeType="withEffect">
                <p:stCondLst>
                  <p:cond delay="1800"/>
                </p:stCondLst>
                <p:tgtEl>
                  <p:spTgt spid="1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7" dur="indefinite" nodeType="tmRoot">
          <p:childTnLst>
            <p:par>
              <p:cTn id="20017" fill="hold" dur="450" presetID="1" presetClass="entr" presetSubtype="0" nodeType="withEffect">
                <p:stCondLst>
                  <p:cond delay="1800"/>
                </p:stCondLst>
                <p:tgtEl>
                  <p:spTgt spid="1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EBF2FA"/>
                </a:solidFill>
                <a:latin typeface="Aptos"/>
              </a:defRPr>
            </a:pPr>
            <a:r>
              <a:t>10  |  Where This Idea Is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554480" cy="41148"/>
          </a:xfrm>
          <a:prstGeom prst="rect">
            <a:avLst/>
          </a:prstGeom>
          <a:solidFill>
            <a:srgbClr val="41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508760"/>
            <a:ext cx="3200400" cy="1325880"/>
          </a:xfrm>
          <a:prstGeom prst="roundRect">
            <a:avLst/>
          </a:prstGeom>
          <a:solidFill>
            <a:srgbClr val="162030"/>
          </a:solidFill>
          <a:ln>
            <a:solidFill>
              <a:srgbClr val="41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19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B4FF"/>
                </a:solidFill>
                <a:latin typeface="Aptos"/>
              </a:defRPr>
            </a:pPr>
            <a:r>
              <a:t>🤖 Robot Navigation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57400"/>
            <a:ext cx="2834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AI searches possible states to reach a target.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508760"/>
            <a:ext cx="3200400" cy="1325880"/>
          </a:xfrm>
          <a:prstGeom prst="roundRect">
            <a:avLst/>
          </a:prstGeom>
          <a:solidFill>
            <a:srgbClr val="162030"/>
          </a:solidFill>
          <a:ln>
            <a:solidFill>
              <a:srgbClr val="41D2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645919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D291"/>
                </a:solidFill>
                <a:latin typeface="Aptos"/>
              </a:defRPr>
            </a:pPr>
            <a:r>
              <a:t>🎮 Game Pathfinding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057400"/>
            <a:ext cx="2834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AI searches possible states to reach a target.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508760"/>
            <a:ext cx="3200400" cy="1325880"/>
          </a:xfrm>
          <a:prstGeom prst="roundRect">
            <a:avLst/>
          </a:prstGeom>
          <a:solidFill>
            <a:srgbClr val="162030"/>
          </a:solidFill>
          <a:ln>
            <a:solidFill>
              <a:srgbClr val="FFA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19" y="1645919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FFAA46"/>
                </a:solidFill>
                <a:latin typeface="Aptos"/>
              </a:defRPr>
            </a:pPr>
            <a:r>
              <a:t>🗺 Route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2057400"/>
            <a:ext cx="2834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AI searches possible states to reach a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37560"/>
            <a:ext cx="3200400" cy="1325880"/>
          </a:xfrm>
          <a:prstGeom prst="roundRect">
            <a:avLst/>
          </a:prstGeom>
          <a:solidFill>
            <a:srgbClr val="162030"/>
          </a:solidFill>
          <a:ln>
            <a:solidFill>
              <a:srgbClr val="41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7472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B4FF"/>
                </a:solidFill>
                <a:latin typeface="Aptos"/>
              </a:defRPr>
            </a:pPr>
            <a:r>
              <a:t>🚁 Drone Navigation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2834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AI searches possible states to reach a target.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3337560"/>
            <a:ext cx="3200400" cy="1325880"/>
          </a:xfrm>
          <a:prstGeom prst="roundRect">
            <a:avLst/>
          </a:prstGeom>
          <a:solidFill>
            <a:srgbClr val="162030"/>
          </a:solidFill>
          <a:ln>
            <a:solidFill>
              <a:srgbClr val="41D2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347472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41D291"/>
                </a:solidFill>
                <a:latin typeface="Aptos"/>
              </a:defRPr>
            </a:pPr>
            <a:r>
              <a:t>🏭 Warehouse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886200"/>
            <a:ext cx="2834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AI searches possible states to reach a target.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3337560"/>
            <a:ext cx="3200400" cy="1325880"/>
          </a:xfrm>
          <a:prstGeom prst="roundRect">
            <a:avLst/>
          </a:prstGeom>
          <a:solidFill>
            <a:srgbClr val="162030"/>
          </a:solidFill>
          <a:ln>
            <a:solidFill>
              <a:srgbClr val="FFA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3474720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00" b="1">
                <a:solidFill>
                  <a:srgbClr val="FFAA46"/>
                </a:solidFill>
                <a:latin typeface="Aptos"/>
              </a:defRPr>
            </a:pPr>
            <a:r>
              <a:t>🧭 Autonomous Systems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3886200"/>
            <a:ext cx="28346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EBF2FA"/>
                </a:solidFill>
                <a:latin typeface="Aptos"/>
              </a:defRPr>
            </a:pPr>
            <a:r>
              <a:t>AI searches possible states to reach a target.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291A5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  <p:transition advClick="0" advTm="7000">
    <p:fade/>
  </p:transition>
  <p:timing>
    <p:tnLst>
      <p:par>
        <p:cTn id="10001" dur="indefinite" nodeType="tmRoot">
          <p:childTnLst>
            <p:par>
              <p:cTn id="20001" fill="hold" dur="450" presetID="1" presetClass="entr" presetSubtype="0" nodeType="withEffect">
                <p:stCondLst>
                  <p:cond delay="0"/>
                </p:stCondLst>
                <p:tgtEl>
                  <p:spTgt spid="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2" dur="indefinite" nodeType="tmRoot">
          <p:childTnLst>
            <p:par>
              <p:cTn id="20002" fill="hold" dur="450" presetID="1" presetClass="entr" presetSubtype="0" nodeType="withEffect">
                <p:stCondLst>
                  <p:cond delay="220"/>
                </p:stCondLst>
                <p:tgtEl>
                  <p:spTgt spid="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3" dur="indefinite" nodeType="tmRoot">
          <p:childTnLst>
            <p:par>
              <p:cTn id="20003" fill="hold" dur="450" presetID="1" presetClass="entr" presetSubtype="0" nodeType="withEffect">
                <p:stCondLst>
                  <p:cond delay="440"/>
                </p:stCondLst>
                <p:tgtEl>
                  <p:spTgt spid="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4" dur="indefinite" nodeType="tmRoot">
          <p:childTnLst>
            <p:par>
              <p:cTn id="20004" fill="hold" dur="450" presetID="1" presetClass="entr" presetSubtype="0" nodeType="withEffect">
                <p:stCondLst>
                  <p:cond delay="660"/>
                </p:stCondLst>
                <p:tgtEl>
                  <p:spTgt spid="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5" dur="indefinite" nodeType="tmRoot">
          <p:childTnLst>
            <p:par>
              <p:cTn id="20005" fill="hold" dur="450" presetID="1" presetClass="entr" presetSubtype="0" nodeType="withEffect">
                <p:stCondLst>
                  <p:cond delay="880"/>
                </p:stCondLst>
                <p:tgtEl>
                  <p:spTgt spid="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6" dur="indefinite" nodeType="tmRoot">
          <p:childTnLst>
            <p:par>
              <p:cTn id="20006" fill="hold" dur="450" presetID="1" presetClass="entr" presetSubtype="0" nodeType="withEffect">
                <p:stCondLst>
                  <p:cond delay="1100"/>
                </p:stCondLst>
                <p:tgtEl>
                  <p:spTgt spid="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7" dur="indefinite" nodeType="tmRoot">
          <p:childTnLst>
            <p:par>
              <p:cTn id="20007" fill="hold" dur="450" presetID="1" presetClass="entr" presetSubtype="0" nodeType="withEffect">
                <p:stCondLst>
                  <p:cond delay="1320"/>
                </p:stCondLst>
                <p:tgtEl>
                  <p:spTgt spid="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8" dur="indefinite" nodeType="tmRoot">
          <p:childTnLst>
            <p:par>
              <p:cTn id="20008" fill="hold" dur="450" presetID="1" presetClass="entr" presetSubtype="0" nodeType="withEffect">
                <p:stCondLst>
                  <p:cond delay="1540"/>
                </p:stCondLst>
                <p:tgtEl>
                  <p:spTgt spid="1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9" dur="indefinite" nodeType="tmRoot">
          <p:childTnLst>
            <p:par>
              <p:cTn id="20009" fill="hold" dur="450" presetID="1" presetClass="entr" presetSubtype="0" nodeType="withEffect">
                <p:stCondLst>
                  <p:cond delay="1760"/>
                </p:stCondLst>
                <p:tgtEl>
                  <p:spTgt spid="11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0" dur="indefinite" nodeType="tmRoot">
          <p:childTnLst>
            <p:par>
              <p:cTn id="20010" fill="hold" dur="450" presetID="1" presetClass="entr" presetSubtype="0" nodeType="withEffect">
                <p:stCondLst>
                  <p:cond delay="1800"/>
                </p:stCondLst>
                <p:tgtEl>
                  <p:spTgt spid="1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1" dur="indefinite" nodeType="tmRoot">
          <p:childTnLst>
            <p:par>
              <p:cTn id="20011" fill="hold" dur="450" presetID="1" presetClass="entr" presetSubtype="0" nodeType="withEffect">
                <p:stCondLst>
                  <p:cond delay="1800"/>
                </p:stCondLst>
                <p:tgtEl>
                  <p:spTgt spid="13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2" dur="indefinite" nodeType="tmRoot">
          <p:childTnLst>
            <p:par>
              <p:cTn id="20012" fill="hold" dur="450" presetID="1" presetClass="entr" presetSubtype="0" nodeType="withEffect">
                <p:stCondLst>
                  <p:cond delay="1800"/>
                </p:stCondLst>
                <p:tgtEl>
                  <p:spTgt spid="1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3" dur="indefinite" nodeType="tmRoot">
          <p:childTnLst>
            <p:par>
              <p:cTn id="20013" fill="hold" dur="450" presetID="1" presetClass="entr" presetSubtype="0" nodeType="withEffect">
                <p:stCondLst>
                  <p:cond delay="1800"/>
                </p:stCondLst>
                <p:tgtEl>
                  <p:spTgt spid="1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4" dur="indefinite" nodeType="tmRoot">
          <p:childTnLst>
            <p:par>
              <p:cTn id="20014" fill="hold" dur="450" presetID="1" presetClass="entr" presetSubtype="0" nodeType="withEffect">
                <p:stCondLst>
                  <p:cond delay="1800"/>
                </p:stCondLst>
                <p:tgtEl>
                  <p:spTgt spid="1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5" dur="indefinite" nodeType="tmRoot">
          <p:childTnLst>
            <p:par>
              <p:cTn id="20015" fill="hold" dur="450" presetID="1" presetClass="entr" presetSubtype="0" nodeType="withEffect">
                <p:stCondLst>
                  <p:cond delay="1800"/>
                </p:stCondLst>
                <p:tgtEl>
                  <p:spTgt spid="1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6" dur="indefinite" nodeType="tmRoot">
          <p:childTnLst>
            <p:par>
              <p:cTn id="20016" fill="hold" dur="450" presetID="1" presetClass="entr" presetSubtype="0" nodeType="withEffect">
                <p:stCondLst>
                  <p:cond delay="1800"/>
                </p:stCondLst>
                <p:tgtEl>
                  <p:spTgt spid="1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7" dur="indefinite" nodeType="tmRoot">
          <p:childTnLst>
            <p:par>
              <p:cTn id="20017" fill="hold" dur="450" presetID="1" presetClass="entr" presetSubtype="0" nodeType="withEffect">
                <p:stCondLst>
                  <p:cond delay="1800"/>
                </p:stCondLst>
                <p:tgtEl>
                  <p:spTgt spid="1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8" dur="indefinite" nodeType="tmRoot">
          <p:childTnLst>
            <p:par>
              <p:cTn id="20018" fill="hold" dur="450" presetID="1" presetClass="entr" presetSubtype="0" nodeType="withEffect">
                <p:stCondLst>
                  <p:cond delay="1800"/>
                </p:stCondLst>
                <p:tgtEl>
                  <p:spTgt spid="2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19" dur="indefinite" nodeType="tmRoot">
          <p:childTnLst>
            <p:par>
              <p:cTn id="20019" fill="hold" dur="450" presetID="1" presetClass="entr" presetSubtype="0" nodeType="withEffect">
                <p:stCondLst>
                  <p:cond delay="1800"/>
                </p:stCondLst>
                <p:tgtEl>
                  <p:spTgt spid="21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20" dur="indefinite" nodeType="tmRoot">
          <p:childTnLst>
            <p:par>
              <p:cTn id="20020" fill="hold" dur="450" presetID="1" presetClass="entr" presetSubtype="0" nodeType="withEffect">
                <p:stCondLst>
                  <p:cond delay="1800"/>
                </p:stCondLst>
                <p:tgtEl>
                  <p:spTgt spid="2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EBF2FA"/>
                </a:solidFill>
                <a:latin typeface="Aptos"/>
              </a:defRPr>
            </a:pPr>
            <a:r>
              <a:t>11  |  Future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554480" cy="41148"/>
          </a:xfrm>
          <a:prstGeom prst="rect">
            <a:avLst/>
          </a:prstGeom>
          <a:solidFill>
            <a:srgbClr val="41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41B4FF"/>
                </a:solidFill>
                <a:latin typeface="Aptos"/>
              </a:defRPr>
            </a:pPr>
            <a:r>
              <a:t>✦ Weighted terrain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4173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41D291"/>
                </a:solidFill>
                <a:latin typeface="Aptos"/>
              </a:defRPr>
            </a:pPr>
            <a:r>
              <a:t>✦ Diagonal movement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AA46"/>
                </a:solidFill>
                <a:latin typeface="Aptos"/>
              </a:defRPr>
            </a:pPr>
            <a:r>
              <a:t>✦ Dynamic obstacles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51460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41B4FF"/>
                </a:solidFill>
                <a:latin typeface="Aptos"/>
              </a:defRPr>
            </a:pPr>
            <a:r>
              <a:t>✦ Dijkstra / Bidirectional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41D291"/>
                </a:solidFill>
                <a:latin typeface="Aptos"/>
              </a:defRPr>
            </a:pPr>
            <a:r>
              <a:t>✦ Animated performance graphs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61188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AA46"/>
                </a:solidFill>
                <a:latin typeface="Aptos"/>
              </a:defRPr>
            </a:pPr>
            <a:r>
              <a:t>✦ Web-based interface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09159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41B4FF"/>
                </a:solidFill>
                <a:latin typeface="Aptos"/>
              </a:defRPr>
            </a:pPr>
            <a:r>
              <a:t>✦ Real-world map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291A5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  <p:transition advClick="0" advTm="7000">
    <p:fade/>
  </p:transition>
  <p:timing>
    <p:tnLst>
      <p:par>
        <p:cTn id="10001" dur="indefinite" nodeType="tmRoot">
          <p:childTnLst>
            <p:par>
              <p:cTn id="20001" fill="hold" dur="450" presetID="1" presetClass="entr" presetSubtype="0" nodeType="withEffect">
                <p:stCondLst>
                  <p:cond delay="0"/>
                </p:stCondLst>
                <p:tgtEl>
                  <p:spTgt spid="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2" dur="indefinite" nodeType="tmRoot">
          <p:childTnLst>
            <p:par>
              <p:cTn id="20002" fill="hold" dur="450" presetID="1" presetClass="entr" presetSubtype="0" nodeType="withEffect">
                <p:stCondLst>
                  <p:cond delay="220"/>
                </p:stCondLst>
                <p:tgtEl>
                  <p:spTgt spid="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3" dur="indefinite" nodeType="tmRoot">
          <p:childTnLst>
            <p:par>
              <p:cTn id="20003" fill="hold" dur="450" presetID="1" presetClass="entr" presetSubtype="0" nodeType="withEffect">
                <p:stCondLst>
                  <p:cond delay="440"/>
                </p:stCondLst>
                <p:tgtEl>
                  <p:spTgt spid="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4" dur="indefinite" nodeType="tmRoot">
          <p:childTnLst>
            <p:par>
              <p:cTn id="20004" fill="hold" dur="450" presetID="1" presetClass="entr" presetSubtype="0" nodeType="withEffect">
                <p:stCondLst>
                  <p:cond delay="660"/>
                </p:stCondLst>
                <p:tgtEl>
                  <p:spTgt spid="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5" dur="indefinite" nodeType="tmRoot">
          <p:childTnLst>
            <p:par>
              <p:cTn id="20005" fill="hold" dur="450" presetID="1" presetClass="entr" presetSubtype="0" nodeType="withEffect">
                <p:stCondLst>
                  <p:cond delay="880"/>
                </p:stCondLst>
                <p:tgtEl>
                  <p:spTgt spid="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6" dur="indefinite" nodeType="tmRoot">
          <p:childTnLst>
            <p:par>
              <p:cTn id="20006" fill="hold" dur="450" presetID="1" presetClass="entr" presetSubtype="0" nodeType="withEffect">
                <p:stCondLst>
                  <p:cond delay="1100"/>
                </p:stCondLst>
                <p:tgtEl>
                  <p:spTgt spid="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7" dur="indefinite" nodeType="tmRoot">
          <p:childTnLst>
            <p:par>
              <p:cTn id="20007" fill="hold" dur="450" presetID="1" presetClass="entr" presetSubtype="0" nodeType="withEffect">
                <p:stCondLst>
                  <p:cond delay="1320"/>
                </p:stCondLst>
                <p:tgtEl>
                  <p:spTgt spid="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8" dur="indefinite" nodeType="tmRoot">
          <p:childTnLst>
            <p:par>
              <p:cTn id="20008" fill="hold" dur="450" presetID="1" presetClass="entr" presetSubtype="0" nodeType="withEffect">
                <p:stCondLst>
                  <p:cond delay="1540"/>
                </p:stCondLst>
                <p:tgtEl>
                  <p:spTgt spid="1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9" dur="indefinite" nodeType="tmRoot">
          <p:childTnLst>
            <p:par>
              <p:cTn id="20009" fill="hold" dur="450" presetID="1" presetClass="entr" presetSubtype="0" nodeType="withEffect">
                <p:stCondLst>
                  <p:cond delay="1760"/>
                </p:stCondLst>
                <p:tgtEl>
                  <p:spTgt spid="11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700" b="1">
                <a:solidFill>
                  <a:srgbClr val="EBF2FA"/>
                </a:solidFill>
                <a:latin typeface="Aptos"/>
              </a:defRPr>
            </a:pPr>
            <a:r>
              <a:t>12  | 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87552"/>
            <a:ext cx="1554480" cy="41148"/>
          </a:xfrm>
          <a:prstGeom prst="rect">
            <a:avLst/>
          </a:prstGeom>
          <a:solidFill>
            <a:srgbClr val="41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41B4FF"/>
                </a:solidFill>
                <a:latin typeface="Aptos"/>
              </a:defRPr>
            </a:pPr>
            <a:r>
              <a:t>FROM 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78308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A5B4C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82880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41D291"/>
                </a:solidFill>
                <a:latin typeface="Aptos"/>
              </a:defRPr>
            </a:pPr>
            <a:r>
              <a:t>TO INTELLIGENT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78308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A5B4C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82880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AA46"/>
                </a:solidFill>
                <a:latin typeface="Aptos"/>
              </a:defRPr>
            </a:pPr>
            <a:r>
              <a:t>AI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57600"/>
            <a:ext cx="9966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EBF2FA"/>
                </a:solidFill>
                <a:latin typeface="Aptos"/>
              </a:defRPr>
            </a:pPr>
            <a:r>
              <a:t>The project turns classical AI search concepts into a visual, interactive and practical application.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291A5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  <p:transition advClick="0" advTm="7000">
    <p:fade/>
  </p:transition>
  <p:timing>
    <p:tnLst>
      <p:par>
        <p:cTn id="10001" dur="indefinite" nodeType="tmRoot">
          <p:childTnLst>
            <p:par>
              <p:cTn id="20001" fill="hold" dur="450" presetID="1" presetClass="entr" presetSubtype="0" nodeType="withEffect">
                <p:stCondLst>
                  <p:cond delay="0"/>
                </p:stCondLst>
                <p:tgtEl>
                  <p:spTgt spid="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2" dur="indefinite" nodeType="tmRoot">
          <p:childTnLst>
            <p:par>
              <p:cTn id="20002" fill="hold" dur="450" presetID="1" presetClass="entr" presetSubtype="0" nodeType="withEffect">
                <p:stCondLst>
                  <p:cond delay="220"/>
                </p:stCondLst>
                <p:tgtEl>
                  <p:spTgt spid="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3" dur="indefinite" nodeType="tmRoot">
          <p:childTnLst>
            <p:par>
              <p:cTn id="20003" fill="hold" dur="450" presetID="1" presetClass="entr" presetSubtype="0" nodeType="withEffect">
                <p:stCondLst>
                  <p:cond delay="440"/>
                </p:stCondLst>
                <p:tgtEl>
                  <p:spTgt spid="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4" dur="indefinite" nodeType="tmRoot">
          <p:childTnLst>
            <p:par>
              <p:cTn id="20004" fill="hold" dur="450" presetID="1" presetClass="entr" presetSubtype="0" nodeType="withEffect">
                <p:stCondLst>
                  <p:cond delay="660"/>
                </p:stCondLst>
                <p:tgtEl>
                  <p:spTgt spid="6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5" dur="indefinite" nodeType="tmRoot">
          <p:childTnLst>
            <p:par>
              <p:cTn id="20005" fill="hold" dur="450" presetID="1" presetClass="entr" presetSubtype="0" nodeType="withEffect">
                <p:stCondLst>
                  <p:cond delay="880"/>
                </p:stCondLst>
                <p:tgtEl>
                  <p:spTgt spid="7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6" dur="indefinite" nodeType="tmRoot">
          <p:childTnLst>
            <p:par>
              <p:cTn id="20006" fill="hold" dur="450" presetID="1" presetClass="entr" presetSubtype="0" nodeType="withEffect">
                <p:stCondLst>
                  <p:cond delay="1100"/>
                </p:stCondLst>
                <p:tgtEl>
                  <p:spTgt spid="8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7" dur="indefinite" nodeType="tmRoot">
          <p:childTnLst>
            <p:par>
              <p:cTn id="20007" fill="hold" dur="450" presetID="1" presetClass="entr" presetSubtype="0" nodeType="withEffect">
                <p:stCondLst>
                  <p:cond delay="1320"/>
                </p:stCondLst>
                <p:tgtEl>
                  <p:spTgt spid="9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8" dur="indefinite" nodeType="tmRoot">
          <p:childTnLst>
            <p:par>
              <p:cTn id="20008" fill="hold" dur="450" presetID="1" presetClass="entr" presetSubtype="0" nodeType="withEffect">
                <p:stCondLst>
                  <p:cond delay="1540"/>
                </p:stCondLst>
                <p:tgtEl>
                  <p:spTgt spid="10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41B4FF"/>
                </a:solidFill>
                <a:latin typeface="Aptos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>
                <a:solidFill>
                  <a:srgbClr val="A5B4C6"/>
                </a:solidFill>
                <a:latin typeface="Aptos"/>
              </a:defRPr>
            </a:pPr>
            <a:r>
              <a:t>AI Smart Route Finder  •  Ayush  •  2024UIN3367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291A5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  <p:transition advClick="0" advTm="7000">
    <p:fade/>
  </p:transition>
  <p:timing>
    <p:tnLst>
      <p:par>
        <p:cTn id="10001" dur="indefinite" nodeType="tmRoot">
          <p:childTnLst>
            <p:par>
              <p:cTn id="20001" fill="hold" dur="450" presetID="1" presetClass="entr" presetSubtype="0" nodeType="withEffect">
                <p:stCondLst>
                  <p:cond delay="0"/>
                </p:stCondLst>
                <p:tgtEl>
                  <p:spTgt spid="2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2" dur="indefinite" nodeType="tmRoot">
          <p:childTnLst>
            <p:par>
              <p:cTn id="20002" fill="hold" dur="450" presetID="1" presetClass="entr" presetSubtype="0" nodeType="withEffect">
                <p:stCondLst>
                  <p:cond delay="220"/>
                </p:stCondLst>
                <p:tgtEl>
                  <p:spTgt spid="3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3" dur="indefinite" nodeType="tmRoot">
          <p:childTnLst>
            <p:par>
              <p:cTn id="20003" fill="hold" dur="450" presetID="1" presetClass="entr" presetSubtype="0" nodeType="withEffect">
                <p:stCondLst>
                  <p:cond delay="440"/>
                </p:stCondLst>
                <p:tgtEl>
                  <p:spTgt spid="4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  <p:par>
        <p:cTn id="10004" dur="indefinite" nodeType="tmRoot">
          <p:childTnLst>
            <p:par>
              <p:cTn id="20004" fill="hold" dur="450" presetID="1" presetClass="entr" presetSubtype="0" nodeType="withEffect">
                <p:stCondLst>
                  <p:cond delay="660"/>
                </p:stCondLst>
                <p:tgtEl>
                  <p:spTgt spid="5"/>
                </p:tgtEl>
                <p:behavior additive="base">
                  <p:attrNameLst>
                    <p:attrName>style.visibility</p:attrName>
                  </p:attrNameLst>
                  <p:to val="1"/>
                </p:behavior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