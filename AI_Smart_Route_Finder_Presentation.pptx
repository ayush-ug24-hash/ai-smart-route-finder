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0876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AI Smart Route Finder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418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Artificial Intelligence Project</a:t>
            </a:r>
          </a:p>
          <a:p>
            <a:pPr algn="ctr">
              <a:defRPr sz="2000"/>
            </a:pPr>
            <a:r>
              <a:t>Ayush | 2024UIN3367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10881360" cy="54864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241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AI-based route-finding system in a grid environment</a:t>
            </a:r>
          </a:p>
          <a:p>
            <a:pPr>
              <a:spcAft>
                <a:spcPts val="1200"/>
              </a:spcAft>
              <a:defRPr sz="2000"/>
            </a:pPr>
            <a:r>
              <a:t>Represents route finding as a state-space search problem</a:t>
            </a:r>
          </a:p>
          <a:p>
            <a:pPr>
              <a:spcAft>
                <a:spcPts val="1200"/>
              </a:spcAft>
              <a:defRPr sz="2000"/>
            </a:pPr>
            <a:r>
              <a:t>Allows obstacles and destination selection</a:t>
            </a:r>
          </a:p>
          <a:p>
            <a:pPr>
              <a:spcAft>
                <a:spcPts val="1200"/>
              </a:spcAft>
              <a:defRPr sz="2000"/>
            </a:pPr>
            <a:r>
              <a:t>Visualizes exploration and final path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AI Algorithms Implemented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10881360" cy="54864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241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Breadth First Search (BFS)</a:t>
            </a:r>
          </a:p>
          <a:p>
            <a:pPr>
              <a:spcAft>
                <a:spcPts val="1200"/>
              </a:spcAft>
              <a:defRPr sz="2000"/>
            </a:pPr>
            <a:r>
              <a:t>Depth First Search (DFS)</a:t>
            </a:r>
          </a:p>
          <a:p>
            <a:pPr>
              <a:spcAft>
                <a:spcPts val="1200"/>
              </a:spcAft>
              <a:defRPr sz="2000"/>
            </a:pPr>
            <a:r>
              <a:t>Greedy Best First Search</a:t>
            </a:r>
          </a:p>
          <a:p>
            <a:pPr>
              <a:spcAft>
                <a:spcPts val="1200"/>
              </a:spcAft>
              <a:defRPr sz="2000"/>
            </a:pPr>
            <a:r>
              <a:t>A* Search</a:t>
            </a:r>
          </a:p>
          <a:p>
            <a:pPr>
              <a:spcAft>
                <a:spcPts val="1200"/>
              </a:spcAft>
              <a:defRPr sz="2000"/>
            </a:pPr>
            <a:r>
              <a:t>Hill Climbing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A* 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10881360" cy="54864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241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Primary informed search technique</a:t>
            </a:r>
          </a:p>
          <a:p>
            <a:pPr>
              <a:spcAft>
                <a:spcPts val="1200"/>
              </a:spcAft>
              <a:defRPr sz="2000"/>
            </a:pPr>
            <a:r>
              <a:t>Evaluation function: f(n) = g(n) + h(n)</a:t>
            </a:r>
          </a:p>
          <a:p>
            <a:pPr>
              <a:spcAft>
                <a:spcPts val="1200"/>
              </a:spcAft>
              <a:defRPr sz="2000"/>
            </a:pPr>
            <a:r>
              <a:t>g(n): cost from start to current state</a:t>
            </a:r>
          </a:p>
          <a:p>
            <a:pPr>
              <a:spcAft>
                <a:spcPts val="1200"/>
              </a:spcAft>
              <a:defRPr sz="2000"/>
            </a:pPr>
            <a:r>
              <a:t>h(n): estimated cost from current state to goal</a:t>
            </a:r>
          </a:p>
          <a:p>
            <a:pPr>
              <a:spcAft>
                <a:spcPts val="1200"/>
              </a:spcAft>
              <a:defRPr sz="2000"/>
            </a:pPr>
            <a:r>
              <a:t>Manhattan Distance is used as the heuristic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State-Space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10881360" cy="54864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241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Each grid cell represents a state</a:t>
            </a:r>
          </a:p>
          <a:p>
            <a:pPr>
              <a:spcAft>
                <a:spcPts val="1200"/>
              </a:spcAft>
              <a:defRPr sz="2000"/>
            </a:pPr>
            <a:r>
              <a:t>Start cell = initial state</a:t>
            </a:r>
          </a:p>
          <a:p>
            <a:pPr>
              <a:spcAft>
                <a:spcPts val="1200"/>
              </a:spcAft>
              <a:defRPr sz="2000"/>
            </a:pPr>
            <a:r>
              <a:t>Destination cell = goal state</a:t>
            </a:r>
          </a:p>
          <a:p>
            <a:pPr>
              <a:spcAft>
                <a:spcPts val="1200"/>
              </a:spcAft>
              <a:defRPr sz="2000"/>
            </a:pPr>
            <a:r>
              <a:t>Moving to an adjacent free cell = action</a:t>
            </a:r>
          </a:p>
          <a:p>
            <a:pPr>
              <a:spcAft>
                <a:spcPts val="1200"/>
              </a:spcAft>
              <a:defRPr sz="2000"/>
            </a:pPr>
            <a:r>
              <a:t>Obstacle cells cannot be traversed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How the System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10881360" cy="54864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241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Create or modify the grid</a:t>
            </a:r>
          </a:p>
          <a:p>
            <a:pPr>
              <a:spcAft>
                <a:spcPts val="1200"/>
              </a:spcAft>
              <a:defRPr sz="2000"/>
            </a:pPr>
            <a:r>
              <a:t>Place obstacles</a:t>
            </a:r>
          </a:p>
          <a:p>
            <a:pPr>
              <a:spcAft>
                <a:spcPts val="1200"/>
              </a:spcAft>
              <a:defRPr sz="2000"/>
            </a:pPr>
            <a:r>
              <a:t>Select a search algorithm</a:t>
            </a:r>
          </a:p>
          <a:p>
            <a:pPr>
              <a:spcAft>
                <a:spcPts val="1200"/>
              </a:spcAft>
              <a:defRPr sz="2000"/>
            </a:pPr>
            <a:r>
              <a:t>Run the algorithm</a:t>
            </a:r>
          </a:p>
          <a:p>
            <a:pPr>
              <a:spcAft>
                <a:spcPts val="1200"/>
              </a:spcAft>
              <a:defRPr sz="2000"/>
            </a:pPr>
            <a:r>
              <a:t>Visualize explored cells and final route</a:t>
            </a:r>
          </a:p>
          <a:p>
            <a:pPr>
              <a:spcAft>
                <a:spcPts val="1200"/>
              </a:spcAft>
              <a:defRPr sz="2000"/>
            </a:pPr>
            <a:r>
              <a:t>Compare performance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Algorithm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10881360" cy="54864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241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BFS: shortest path for equal-cost movements</a:t>
            </a:r>
          </a:p>
          <a:p>
            <a:pPr>
              <a:spcAft>
                <a:spcPts val="1200"/>
              </a:spcAft>
              <a:defRPr sz="2000"/>
            </a:pPr>
            <a:r>
              <a:t>DFS: depth-oriented exploration; may produce longer paths</a:t>
            </a:r>
          </a:p>
          <a:p>
            <a:pPr>
              <a:spcAft>
                <a:spcPts val="1200"/>
              </a:spcAft>
              <a:defRPr sz="2000"/>
            </a:pPr>
            <a:r>
              <a:t>Greedy Best First: prioritizes estimated closeness to goal</a:t>
            </a:r>
          </a:p>
          <a:p>
            <a:pPr>
              <a:spcAft>
                <a:spcPts val="1200"/>
              </a:spcAft>
              <a:defRPr sz="2000"/>
            </a:pPr>
            <a:r>
              <a:t>A*: combines path cost and heuristic</a:t>
            </a:r>
          </a:p>
          <a:p>
            <a:pPr>
              <a:spcAft>
                <a:spcPts val="1200"/>
              </a:spcAft>
              <a:defRPr sz="2000"/>
            </a:pPr>
            <a:r>
              <a:t>Hill Climbing: locally improves the current state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Technologies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10881360" cy="54864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241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Python</a:t>
            </a:r>
          </a:p>
          <a:p>
            <a:pPr>
              <a:spcAft>
                <a:spcPts val="1200"/>
              </a:spcAft>
              <a:defRPr sz="2000"/>
            </a:pPr>
            <a:r>
              <a:t>Tkinter for graphical user interface</a:t>
            </a:r>
          </a:p>
          <a:p>
            <a:pPr>
              <a:spcAft>
                <a:spcPts val="1200"/>
              </a:spcAft>
              <a:defRPr sz="2000"/>
            </a:pPr>
            <a:r>
              <a:t>Queues, stacks and priority queues</a:t>
            </a:r>
          </a:p>
          <a:p>
            <a:pPr>
              <a:spcAft>
                <a:spcPts val="1200"/>
              </a:spcAft>
              <a:defRPr sz="2000"/>
            </a:pPr>
            <a:r>
              <a:t>Classical AI search algorithms</a:t>
            </a:r>
          </a:p>
          <a:p>
            <a:pPr>
              <a:spcAft>
                <a:spcPts val="1200"/>
              </a:spcAft>
              <a:defRPr sz="2000"/>
            </a:pPr>
            <a:r>
              <a:t>No external packages required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Applications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10881360" cy="54864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241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Robot navigation</a:t>
            </a:r>
          </a:p>
          <a:p>
            <a:pPr>
              <a:spcAft>
                <a:spcPts val="1200"/>
              </a:spcAft>
              <a:defRPr sz="2000"/>
            </a:pPr>
            <a:r>
              <a:t>Game pathfinding</a:t>
            </a:r>
          </a:p>
          <a:p>
            <a:pPr>
              <a:spcAft>
                <a:spcPts val="1200"/>
              </a:spcAft>
              <a:defRPr sz="2000"/>
            </a:pPr>
            <a:r>
              <a:t>Map and route planning</a:t>
            </a:r>
          </a:p>
          <a:p>
            <a:pPr>
              <a:spcAft>
                <a:spcPts val="1200"/>
              </a:spcAft>
              <a:defRPr sz="2000"/>
            </a:pPr>
            <a:r>
              <a:t>Autonomous systems</a:t>
            </a:r>
          </a:p>
          <a:p>
            <a:pPr>
              <a:spcAft>
                <a:spcPts val="1200"/>
              </a:spcAft>
              <a:defRPr sz="2000"/>
            </a:pPr>
            <a:r>
              <a:t>Grid-based search problems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10881360" cy="54864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241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Weighted terrain and different movement costs</a:t>
            </a:r>
          </a:p>
          <a:p>
            <a:pPr>
              <a:spcAft>
                <a:spcPts val="1200"/>
              </a:spcAft>
              <a:defRPr sz="2000"/>
            </a:pPr>
            <a:r>
              <a:t>Diagonal movement</a:t>
            </a:r>
          </a:p>
          <a:p>
            <a:pPr>
              <a:spcAft>
                <a:spcPts val="1200"/>
              </a:spcAft>
              <a:defRPr sz="2000"/>
            </a:pPr>
            <a:r>
              <a:t>Dynamic obstacles</a:t>
            </a:r>
          </a:p>
          <a:p>
            <a:pPr>
              <a:spcAft>
                <a:spcPts val="1200"/>
              </a:spcAft>
              <a:defRPr sz="2000"/>
            </a:pPr>
            <a:r>
              <a:t>Dijkstra and bidirectional search</a:t>
            </a:r>
          </a:p>
          <a:p>
            <a:pPr>
              <a:spcAft>
                <a:spcPts val="1200"/>
              </a:spcAft>
              <a:defRPr sz="2000"/>
            </a:pPr>
            <a:r>
              <a:t>Animated comparison charts</a:t>
            </a:r>
          </a:p>
          <a:p>
            <a:pPr>
              <a:spcAft>
                <a:spcPts val="1200"/>
              </a:spcAft>
              <a:defRPr sz="2000"/>
            </a:pPr>
            <a:r>
              <a:t>Web-based version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10881360" cy="54864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241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Demonstrates practical AI state-space search</a:t>
            </a:r>
          </a:p>
          <a:p>
            <a:pPr>
              <a:spcAft>
                <a:spcPts val="1200"/>
              </a:spcAft>
              <a:defRPr sz="2000"/>
            </a:pPr>
            <a:r>
              <a:t>Shows differences between uninformed and informed search</a:t>
            </a:r>
          </a:p>
          <a:p>
            <a:pPr>
              <a:spcAft>
                <a:spcPts val="1200"/>
              </a:spcAft>
              <a:defRPr sz="2000"/>
            </a:pPr>
            <a:r>
              <a:t>A* provides a balance of path cost and heuristic guidance</a:t>
            </a:r>
          </a:p>
          <a:p>
            <a:pPr>
              <a:spcAft>
                <a:spcPts val="1200"/>
              </a:spcAft>
              <a:defRPr sz="2000"/>
            </a:pPr>
            <a:r>
              <a:t>Visualization makes the algorithms easier to understand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10881360" cy="54864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2412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